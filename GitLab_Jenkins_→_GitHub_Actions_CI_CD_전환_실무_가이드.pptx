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521884"/>
            <a:ext cx="6429375" cy="4099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357313" y="521884"/>
            <a:ext cx="6429375" cy="57150"/>
          </a:xfrm>
          <a:prstGeom prst="rect">
            <a:avLst/>
          </a:prstGeom>
          <a:solidFill>
            <a:srgbClr val="A29BF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485" y="950509"/>
            <a:ext cx="428625" cy="4286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60" y="950509"/>
            <a:ext cx="428625" cy="42862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235" y="1021947"/>
            <a:ext cx="250031" cy="2857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016" y="950509"/>
            <a:ext cx="416123" cy="42862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890" y="950509"/>
            <a:ext cx="428625" cy="428625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928813" y="1593447"/>
            <a:ext cx="5286375" cy="138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2D3436"/>
                </a:solidFill>
              </a:rPr>
              <a:t>GitLab/Jenkins → GitHub </a:t>
            </a:r>
            <a:pPr algn="ctr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2D3436"/>
                </a:solidFill>
              </a:rPr>
              <a:t>Actions</a:t>
            </a:r>
            <a:pPr algn="ctr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2D3436"/>
                </a:solidFill>
              </a:rPr>
              <a:t>
</a:t>
            </a:r>
            <a:pPr algn="ctr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2D3436"/>
                </a:solidFill>
              </a:rPr>
              <a:t>CI/CD 전환 실무 가이드</a:t>
            </a:r>
            <a:endParaRPr lang="en-US" sz="2755" dirty="0"/>
          </a:p>
        </p:txBody>
      </p:sp>
      <p:sp>
        <p:nvSpPr>
          <p:cNvPr id="11" name="Shape 3"/>
          <p:cNvSpPr/>
          <p:nvPr/>
        </p:nvSpPr>
        <p:spPr>
          <a:xfrm>
            <a:off x="3177267" y="3125000"/>
            <a:ext cx="2789467" cy="432197"/>
          </a:xfrm>
          <a:prstGeom prst="roundRect">
            <a:avLst/>
          </a:prstGeom>
          <a:solidFill>
            <a:srgbClr val="6C5CE7">
              <a:alpha val="10000"/>
            </a:srgbClr>
          </a:solidFill>
          <a:ln/>
        </p:spPr>
      </p:sp>
      <p:sp>
        <p:nvSpPr>
          <p:cNvPr id="12" name="Text 4"/>
          <p:cNvSpPr/>
          <p:nvPr/>
        </p:nvSpPr>
        <p:spPr>
          <a:xfrm>
            <a:off x="3177267" y="3125000"/>
            <a:ext cx="2789467" cy="43219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C5CE7"/>
                </a:solidFill>
              </a:rPr>
              <a:t>구조 · 설정 · 운영 · 트러블슈팅</a:t>
            </a:r>
            <a:endParaRPr lang="en-US" sz="1397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4713" y="4017969"/>
            <a:ext cx="142875" cy="14287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319025" y="3992073"/>
            <a:ext cx="5746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Backend</a:t>
            </a:r>
            <a:endParaRPr lang="en-US" sz="105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7991" y="4017969"/>
            <a:ext cx="178594" cy="14287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358022" y="3992073"/>
            <a:ext cx="5224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DevOps</a:t>
            </a:r>
            <a:endParaRPr lang="en-US" sz="105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4833" y="4017969"/>
            <a:ext cx="178594" cy="14287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344864" y="3985822"/>
            <a:ext cx="69439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신규 입사자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전환이 필요한 이유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기존 Jenkins 중심 CI/CD 시스템의 한계점과 전환 목표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543050"/>
            <a:ext cx="3625453" cy="36147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873448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4431" y="1828800"/>
            <a:ext cx="157620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기존 시스템의 한계</a:t>
            </a:r>
            <a:endParaRPr lang="en-US" sz="139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525316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7281" y="2489597"/>
            <a:ext cx="24585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Jenkins 관리 부담 증가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플러그인 의존성, 서버 유지보수 비용 발생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32534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07281" y="3096816"/>
            <a:ext cx="2157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Credential 관리 복잡성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분산된 인증 정보로 보안 리스크 증가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739753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7281" y="3704034"/>
            <a:ext cx="26460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파이프라인 표준화 부재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프로젝트별 상이한 스크립트로 재사용성 저하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346972"/>
            <a:ext cx="142875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07281" y="4311253"/>
            <a:ext cx="2231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GitLab 커뮤니티 제약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고급 보안 기능 및 통합 관리 도구 부족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2703" y="3207544"/>
            <a:ext cx="178594" cy="2857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947047" y="1543050"/>
            <a:ext cx="3625453" cy="36147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2797" y="1873448"/>
            <a:ext cx="200025" cy="20002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539978" y="1828800"/>
            <a:ext cx="78810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C5CE7"/>
                </a:solidFill>
              </a:rPr>
              <a:t>전환 목표</a:t>
            </a:r>
            <a:endParaRPr lang="en-US" sz="1397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797" y="2525316"/>
            <a:ext cx="142875" cy="14287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482828" y="2489597"/>
            <a:ext cx="229615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GitHub 중심 통합 플랫폼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소스 관리부터 CI까지 단일 플랫폼 통합</a:t>
            </a:r>
            <a:endParaRPr lang="en-US" sz="10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2797" y="3132534"/>
            <a:ext cx="142875" cy="14287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482828" y="3096816"/>
            <a:ext cx="22561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관리 효율성 향상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SaaS 기반 CI로 인프라 관리 부담 제거</a:t>
            </a:r>
            <a:endParaRPr lang="en-US" sz="10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797" y="3739753"/>
            <a:ext cx="142875" cy="142875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482828" y="3704034"/>
            <a:ext cx="20328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보안 강화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36E72"/>
                </a:solidFill>
              </a:rPr>
              <a:t> GHAS 및 중앙 집중식 Secret 관리</a:t>
            </a:r>
            <a:endParaRPr lang="en-US" sz="1050" dirty="0"/>
          </a:p>
        </p:txBody>
      </p:sp>
      <p:sp>
        <p:nvSpPr>
          <p:cNvPr id="27" name="Shape 14"/>
          <p:cNvSpPr/>
          <p:nvPr/>
        </p:nvSpPr>
        <p:spPr>
          <a:xfrm>
            <a:off x="5232797" y="4132659"/>
            <a:ext cx="3053953" cy="739378"/>
          </a:xfrm>
          <a:prstGeom prst="rect">
            <a:avLst/>
          </a:prstGeom>
          <a:solidFill>
            <a:srgbClr val="A29BFE">
              <a:alpha val="10000"/>
            </a:srgbClr>
          </a:solidFill>
          <a:ln/>
        </p:spPr>
      </p:sp>
      <p:sp>
        <p:nvSpPr>
          <p:cNvPr id="28" name="Text 15"/>
          <p:cNvSpPr/>
          <p:nvPr/>
        </p:nvSpPr>
        <p:spPr>
          <a:xfrm>
            <a:off x="5232797" y="4132659"/>
            <a:ext cx="3053953" cy="73937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C5CE7"/>
                </a:solidFill>
              </a:rPr>
              <a:t>"DevOps 효율성 극대화 및 보안 리스크 최소화"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전환 후 아키텍처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GitHub 중심 통합으로 CI/CD 파이프라인 단순화 및 보안 강화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8001000" cy="14591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85813" y="1364456"/>
            <a:ext cx="774009" cy="246459"/>
          </a:xfrm>
          <a:prstGeom prst="roundRect">
            <a:avLst/>
          </a:prstGeom>
          <a:solidFill>
            <a:srgbClr val="636E72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364456"/>
            <a:ext cx="774009" cy="246459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Before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928688" y="1743968"/>
            <a:ext cx="1000125" cy="914400"/>
          </a:xfrm>
          <a:prstGeom prst="rect">
            <a:avLst/>
          </a:prstGeom>
          <a:solidFill>
            <a:srgbClr val="F8F9FA"/>
          </a:solidFill>
          <a:ln w="18288">
            <a:solidFill>
              <a:srgbClr val="E0E0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3" y="1865412"/>
            <a:ext cx="257175" cy="2571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6836" y="2194024"/>
            <a:ext cx="3638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GitLab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1176486" y="2420838"/>
            <a:ext cx="504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Source Code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2035969" y="2194024"/>
            <a:ext cx="1928813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14" name="Shape 10"/>
          <p:cNvSpPr/>
          <p:nvPr/>
        </p:nvSpPr>
        <p:spPr>
          <a:xfrm>
            <a:off x="4071938" y="1685925"/>
            <a:ext cx="1000125" cy="1030486"/>
          </a:xfrm>
          <a:prstGeom prst="rect">
            <a:avLst/>
          </a:prstGeom>
          <a:solidFill>
            <a:srgbClr val="F8F9FA"/>
          </a:solidFill>
          <a:ln w="18288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1807369"/>
            <a:ext cx="257175" cy="2571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9743" y="2135981"/>
            <a:ext cx="4045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Jenkins</a:t>
            </a:r>
            <a:endParaRPr lang="en-US" sz="784" dirty="0"/>
          </a:p>
        </p:txBody>
      </p:sp>
      <p:sp>
        <p:nvSpPr>
          <p:cNvPr id="17" name="Text 12"/>
          <p:cNvSpPr/>
          <p:nvPr/>
        </p:nvSpPr>
        <p:spPr>
          <a:xfrm>
            <a:off x="4179094" y="2362795"/>
            <a:ext cx="785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CI / CD (Build &amp; Deploy)</a:t>
            </a:r>
            <a:endParaRPr lang="en-US" sz="621" dirty="0"/>
          </a:p>
        </p:txBody>
      </p:sp>
      <p:sp>
        <p:nvSpPr>
          <p:cNvPr id="18" name="Shape 13"/>
          <p:cNvSpPr/>
          <p:nvPr/>
        </p:nvSpPr>
        <p:spPr>
          <a:xfrm>
            <a:off x="5179219" y="2194024"/>
            <a:ext cx="1928813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19" name="Shape 14"/>
          <p:cNvSpPr/>
          <p:nvPr/>
        </p:nvSpPr>
        <p:spPr>
          <a:xfrm>
            <a:off x="7215188" y="1685925"/>
            <a:ext cx="1000125" cy="1030486"/>
          </a:xfrm>
          <a:prstGeom prst="rect">
            <a:avLst/>
          </a:prstGeom>
          <a:solidFill>
            <a:srgbClr val="F8F9FA"/>
          </a:solidFill>
          <a:ln w="18288">
            <a:solidFill>
              <a:srgbClr val="E0E0E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663" y="1793081"/>
            <a:ext cx="257175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1149" y="2121694"/>
            <a:ext cx="3481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Nexus</a:t>
            </a:r>
            <a:endParaRPr lang="en-US" sz="784" dirty="0"/>
          </a:p>
        </p:txBody>
      </p:sp>
      <p:sp>
        <p:nvSpPr>
          <p:cNvPr id="22" name="Text 16"/>
          <p:cNvSpPr/>
          <p:nvPr/>
        </p:nvSpPr>
        <p:spPr>
          <a:xfrm>
            <a:off x="7322344" y="2348508"/>
            <a:ext cx="785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Artifact (Community)</a:t>
            </a:r>
            <a:endParaRPr lang="en-US" sz="621" dirty="0"/>
          </a:p>
        </p:txBody>
      </p:sp>
      <p:sp>
        <p:nvSpPr>
          <p:cNvPr id="23" name="Shape 17"/>
          <p:cNvSpPr/>
          <p:nvPr/>
        </p:nvSpPr>
        <p:spPr>
          <a:xfrm>
            <a:off x="571500" y="3116461"/>
            <a:ext cx="8001000" cy="1343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785813" y="3009305"/>
            <a:ext cx="676424" cy="246459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25" name="Text 19"/>
          <p:cNvSpPr/>
          <p:nvPr/>
        </p:nvSpPr>
        <p:spPr>
          <a:xfrm>
            <a:off x="785813" y="3009305"/>
            <a:ext cx="676424" cy="246459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After</a:t>
            </a:r>
            <a:endParaRPr lang="en-US" sz="885" dirty="0"/>
          </a:p>
        </p:txBody>
      </p:sp>
      <p:sp>
        <p:nvSpPr>
          <p:cNvPr id="26" name="Shape 20"/>
          <p:cNvSpPr/>
          <p:nvPr/>
        </p:nvSpPr>
        <p:spPr>
          <a:xfrm>
            <a:off x="928688" y="3330773"/>
            <a:ext cx="1000125" cy="914400"/>
          </a:xfrm>
          <a:prstGeom prst="rect">
            <a:avLst/>
          </a:prstGeom>
          <a:solidFill>
            <a:srgbClr val="6C5CE7">
              <a:alpha val="5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734" y="3452217"/>
            <a:ext cx="250031" cy="2571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1962" y="3780830"/>
            <a:ext cx="3935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GitHub</a:t>
            </a:r>
            <a:endParaRPr lang="en-US" sz="784" dirty="0"/>
          </a:p>
        </p:txBody>
      </p:sp>
      <p:sp>
        <p:nvSpPr>
          <p:cNvPr id="29" name="Text 22"/>
          <p:cNvSpPr/>
          <p:nvPr/>
        </p:nvSpPr>
        <p:spPr>
          <a:xfrm>
            <a:off x="1160413" y="4007644"/>
            <a:ext cx="5366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Source &amp; Org</a:t>
            </a:r>
            <a:endParaRPr lang="en-US" sz="621" dirty="0"/>
          </a:p>
        </p:txBody>
      </p:sp>
      <p:sp>
        <p:nvSpPr>
          <p:cNvPr id="30" name="Shape 23"/>
          <p:cNvSpPr/>
          <p:nvPr/>
        </p:nvSpPr>
        <p:spPr>
          <a:xfrm>
            <a:off x="2035969" y="3780830"/>
            <a:ext cx="881053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31" name="Shape 24"/>
          <p:cNvSpPr/>
          <p:nvPr/>
        </p:nvSpPr>
        <p:spPr>
          <a:xfrm>
            <a:off x="3024178" y="3330773"/>
            <a:ext cx="1000125" cy="914400"/>
          </a:xfrm>
          <a:prstGeom prst="rect">
            <a:avLst/>
          </a:prstGeom>
          <a:solidFill>
            <a:srgbClr val="6C5CE7">
              <a:alpha val="5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653" y="3452217"/>
            <a:ext cx="257175" cy="2571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317853" y="3780830"/>
            <a:ext cx="4127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Actions</a:t>
            </a:r>
            <a:endParaRPr lang="en-US" sz="784" dirty="0"/>
          </a:p>
        </p:txBody>
      </p:sp>
      <p:sp>
        <p:nvSpPr>
          <p:cNvPr id="34" name="Text 26"/>
          <p:cNvSpPr/>
          <p:nvPr/>
        </p:nvSpPr>
        <p:spPr>
          <a:xfrm>
            <a:off x="3194624" y="4007644"/>
            <a:ext cx="6592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CI (Build &amp; Scan)</a:t>
            </a:r>
            <a:endParaRPr lang="en-US" sz="621" dirty="0"/>
          </a:p>
        </p:txBody>
      </p:sp>
      <p:sp>
        <p:nvSpPr>
          <p:cNvPr id="35" name="Shape 27"/>
          <p:cNvSpPr/>
          <p:nvPr/>
        </p:nvSpPr>
        <p:spPr>
          <a:xfrm>
            <a:off x="4131459" y="3780830"/>
            <a:ext cx="881053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36" name="Shape 28"/>
          <p:cNvSpPr/>
          <p:nvPr/>
        </p:nvSpPr>
        <p:spPr>
          <a:xfrm>
            <a:off x="5119669" y="3330773"/>
            <a:ext cx="1000125" cy="914400"/>
          </a:xfrm>
          <a:prstGeom prst="rect">
            <a:avLst/>
          </a:prstGeom>
          <a:solidFill>
            <a:srgbClr val="6C5CE7">
              <a:alpha val="5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44" y="3452217"/>
            <a:ext cx="257175" cy="2571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13331" y="3780830"/>
            <a:ext cx="6127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Nexus PRO</a:t>
            </a:r>
            <a:endParaRPr lang="en-US" sz="784" dirty="0"/>
          </a:p>
        </p:txBody>
      </p:sp>
      <p:sp>
        <p:nvSpPr>
          <p:cNvPr id="39" name="Text 30"/>
          <p:cNvSpPr/>
          <p:nvPr/>
        </p:nvSpPr>
        <p:spPr>
          <a:xfrm>
            <a:off x="5258721" y="4007644"/>
            <a:ext cx="7219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Artifact &amp; Security</a:t>
            </a:r>
            <a:endParaRPr lang="en-US" sz="621" dirty="0"/>
          </a:p>
        </p:txBody>
      </p:sp>
      <p:sp>
        <p:nvSpPr>
          <p:cNvPr id="40" name="Shape 31"/>
          <p:cNvSpPr/>
          <p:nvPr/>
        </p:nvSpPr>
        <p:spPr>
          <a:xfrm>
            <a:off x="6226950" y="3780830"/>
            <a:ext cx="881053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41" name="Shape 32"/>
          <p:cNvSpPr/>
          <p:nvPr/>
        </p:nvSpPr>
        <p:spPr>
          <a:xfrm>
            <a:off x="7215160" y="3330773"/>
            <a:ext cx="1000125" cy="914400"/>
          </a:xfrm>
          <a:prstGeom prst="rect">
            <a:avLst/>
          </a:prstGeom>
          <a:solidFill>
            <a:srgbClr val="F8F9FA"/>
          </a:solidFill>
          <a:ln w="18288">
            <a:solidFill>
              <a:srgbClr val="E0E0E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6635" y="3437930"/>
            <a:ext cx="257175" cy="25717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512965" y="3766542"/>
            <a:ext cx="4045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Jenkins</a:t>
            </a:r>
            <a:endParaRPr lang="en-US" sz="784" dirty="0"/>
          </a:p>
        </p:txBody>
      </p:sp>
      <p:sp>
        <p:nvSpPr>
          <p:cNvPr id="44" name="Text 34"/>
          <p:cNvSpPr/>
          <p:nvPr/>
        </p:nvSpPr>
        <p:spPr>
          <a:xfrm>
            <a:off x="7376117" y="3993356"/>
            <a:ext cx="67818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CD (Deploy Only)</a:t>
            </a:r>
            <a:endParaRPr lang="en-US" sz="621" dirty="0"/>
          </a:p>
        </p:txBody>
      </p:sp>
      <p:sp>
        <p:nvSpPr>
          <p:cNvPr id="45" name="Shape 35"/>
          <p:cNvSpPr/>
          <p:nvPr/>
        </p:nvSpPr>
        <p:spPr>
          <a:xfrm>
            <a:off x="571500" y="4788098"/>
            <a:ext cx="8001000" cy="475059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3525" y="4961334"/>
            <a:ext cx="128588" cy="1285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573550" y="4930973"/>
            <a:ext cx="90591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C5CE7"/>
                </a:solidFill>
              </a:rPr>
              <a:t>CI 자동화율 향상</a:t>
            </a:r>
            <a:endParaRPr lang="en-US" sz="885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7768" y="4961334"/>
            <a:ext cx="128588" cy="12858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3997793" y="4930973"/>
            <a:ext cx="13593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C5CE7"/>
                </a:solidFill>
              </a:rPr>
              <a:t>보안 스캔 자동화 (GHAS)</a:t>
            </a:r>
            <a:endParaRPr lang="en-US" sz="885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416" y="4961334"/>
            <a:ext cx="128588" cy="12858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6875441" y="4930973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C5CE7"/>
                </a:solidFill>
              </a:rPr>
              <a:t>관리 포인트 감소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역할 분리 및 전환 범위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CI/CD 책임 소재 명확화 및 전환 대상 정의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2571750" cy="2135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71613"/>
            <a:ext cx="2571750" cy="42863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657350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1506" y="2114550"/>
            <a:ext cx="12317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CI (Build &amp; Test)</a:t>
            </a:r>
            <a:endParaRPr lang="en-US" sz="1090" dirty="0"/>
          </a:p>
        </p:txBody>
      </p:sp>
      <p:sp>
        <p:nvSpPr>
          <p:cNvPr id="10" name="Shape 6"/>
          <p:cNvSpPr/>
          <p:nvPr/>
        </p:nvSpPr>
        <p:spPr>
          <a:xfrm>
            <a:off x="1405896" y="2364581"/>
            <a:ext cx="902959" cy="19288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Text 7"/>
          <p:cNvSpPr/>
          <p:nvPr/>
        </p:nvSpPr>
        <p:spPr>
          <a:xfrm>
            <a:off x="1405896" y="2364581"/>
            <a:ext cx="902959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GitHub Actions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757238" y="267176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900113" y="2680692"/>
            <a:ext cx="11704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코드 빌드 및 유닛 테스트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757238" y="2907506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900113" y="2916436"/>
            <a:ext cx="14009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정적 분석 (SonarQube/Lint)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757238" y="314325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900113" y="3152180"/>
            <a:ext cx="1110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Artifact 생성 및 업로드</a:t>
            </a:r>
            <a:endParaRPr lang="en-US" sz="834" dirty="0"/>
          </a:p>
        </p:txBody>
      </p:sp>
      <p:sp>
        <p:nvSpPr>
          <p:cNvPr id="18" name="Shape 14"/>
          <p:cNvSpPr/>
          <p:nvPr/>
        </p:nvSpPr>
        <p:spPr>
          <a:xfrm>
            <a:off x="3286125" y="1471613"/>
            <a:ext cx="2571750" cy="2135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286125" y="1471613"/>
            <a:ext cx="2571750" cy="42863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65735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34365" y="2114550"/>
            <a:ext cx="12752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Artifact Manage</a:t>
            </a:r>
            <a:endParaRPr lang="en-US" sz="1090" dirty="0"/>
          </a:p>
        </p:txBody>
      </p:sp>
      <p:sp>
        <p:nvSpPr>
          <p:cNvPr id="22" name="Shape 17"/>
          <p:cNvSpPr/>
          <p:nvPr/>
        </p:nvSpPr>
        <p:spPr>
          <a:xfrm>
            <a:off x="4218189" y="2364581"/>
            <a:ext cx="707622" cy="19288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Text 18"/>
          <p:cNvSpPr/>
          <p:nvPr/>
        </p:nvSpPr>
        <p:spPr>
          <a:xfrm>
            <a:off x="4218189" y="2364581"/>
            <a:ext cx="707622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Nexus PRO</a:t>
            </a:r>
            <a:endParaRPr lang="en-US" sz="683" dirty="0"/>
          </a:p>
        </p:txBody>
      </p:sp>
      <p:sp>
        <p:nvSpPr>
          <p:cNvPr id="24" name="Text 19"/>
          <p:cNvSpPr/>
          <p:nvPr/>
        </p:nvSpPr>
        <p:spPr>
          <a:xfrm>
            <a:off x="3471863" y="267176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25" name="Text 20"/>
          <p:cNvSpPr/>
          <p:nvPr/>
        </p:nvSpPr>
        <p:spPr>
          <a:xfrm>
            <a:off x="3614738" y="2680692"/>
            <a:ext cx="13636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Snapshot / Release 저장소</a:t>
            </a:r>
            <a:endParaRPr lang="en-US" sz="834" dirty="0"/>
          </a:p>
        </p:txBody>
      </p:sp>
      <p:sp>
        <p:nvSpPr>
          <p:cNvPr id="26" name="Text 21"/>
          <p:cNvSpPr/>
          <p:nvPr/>
        </p:nvSpPr>
        <p:spPr>
          <a:xfrm>
            <a:off x="3471863" y="2907506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27" name="Text 22"/>
          <p:cNvSpPr/>
          <p:nvPr/>
        </p:nvSpPr>
        <p:spPr>
          <a:xfrm>
            <a:off x="3614738" y="2916436"/>
            <a:ext cx="7955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보안 취약점 스캔</a:t>
            </a:r>
            <a:endParaRPr lang="en-US" sz="834" dirty="0"/>
          </a:p>
        </p:txBody>
      </p:sp>
      <p:sp>
        <p:nvSpPr>
          <p:cNvPr id="28" name="Text 23"/>
          <p:cNvSpPr/>
          <p:nvPr/>
        </p:nvSpPr>
        <p:spPr>
          <a:xfrm>
            <a:off x="3471863" y="314325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29" name="Text 24"/>
          <p:cNvSpPr/>
          <p:nvPr/>
        </p:nvSpPr>
        <p:spPr>
          <a:xfrm>
            <a:off x="3614738" y="3152180"/>
            <a:ext cx="11110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라이프사이클 정책 관리</a:t>
            </a:r>
            <a:endParaRPr lang="en-US" sz="834" dirty="0"/>
          </a:p>
        </p:txBody>
      </p:sp>
      <p:sp>
        <p:nvSpPr>
          <p:cNvPr id="30" name="Shape 25"/>
          <p:cNvSpPr/>
          <p:nvPr/>
        </p:nvSpPr>
        <p:spPr>
          <a:xfrm>
            <a:off x="6000750" y="1471613"/>
            <a:ext cx="2571750" cy="2135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6000750" y="1471613"/>
            <a:ext cx="2571750" cy="42863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1657350"/>
            <a:ext cx="342900" cy="3429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34615" y="2114550"/>
            <a:ext cx="9040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CD (Deploy)</a:t>
            </a:r>
            <a:endParaRPr lang="en-US" sz="1090" dirty="0"/>
          </a:p>
        </p:txBody>
      </p:sp>
      <p:sp>
        <p:nvSpPr>
          <p:cNvPr id="34" name="Shape 28"/>
          <p:cNvSpPr/>
          <p:nvPr/>
        </p:nvSpPr>
        <p:spPr>
          <a:xfrm>
            <a:off x="7023925" y="2364581"/>
            <a:ext cx="525400" cy="19288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5" name="Text 29"/>
          <p:cNvSpPr/>
          <p:nvPr/>
        </p:nvSpPr>
        <p:spPr>
          <a:xfrm>
            <a:off x="7023925" y="2364581"/>
            <a:ext cx="525400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Jenkins</a:t>
            </a:r>
            <a:endParaRPr lang="en-US" sz="683" dirty="0"/>
          </a:p>
        </p:txBody>
      </p:sp>
      <p:sp>
        <p:nvSpPr>
          <p:cNvPr id="36" name="Text 30"/>
          <p:cNvSpPr/>
          <p:nvPr/>
        </p:nvSpPr>
        <p:spPr>
          <a:xfrm>
            <a:off x="6186488" y="267176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37" name="Text 31"/>
          <p:cNvSpPr/>
          <p:nvPr/>
        </p:nvSpPr>
        <p:spPr>
          <a:xfrm>
            <a:off x="6329363" y="2680692"/>
            <a:ext cx="840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Artifact 다운로드</a:t>
            </a:r>
            <a:endParaRPr lang="en-US" sz="834" dirty="0"/>
          </a:p>
        </p:txBody>
      </p:sp>
      <p:sp>
        <p:nvSpPr>
          <p:cNvPr id="38" name="Text 32"/>
          <p:cNvSpPr/>
          <p:nvPr/>
        </p:nvSpPr>
        <p:spPr>
          <a:xfrm>
            <a:off x="6186488" y="2907506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39" name="Text 33"/>
          <p:cNvSpPr/>
          <p:nvPr/>
        </p:nvSpPr>
        <p:spPr>
          <a:xfrm>
            <a:off x="6329363" y="2916436"/>
            <a:ext cx="14989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환경별 배포 (Dev/Stage/Prod)</a:t>
            </a:r>
            <a:endParaRPr lang="en-US" sz="834" dirty="0"/>
          </a:p>
        </p:txBody>
      </p:sp>
      <p:sp>
        <p:nvSpPr>
          <p:cNvPr id="40" name="Text 34"/>
          <p:cNvSpPr/>
          <p:nvPr/>
        </p:nvSpPr>
        <p:spPr>
          <a:xfrm>
            <a:off x="6186488" y="314325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B2BEC3"/>
                </a:solidFill>
              </a:rPr>
              <a:t>•</a:t>
            </a:r>
            <a:endParaRPr lang="en-US" sz="784" dirty="0"/>
          </a:p>
        </p:txBody>
      </p:sp>
      <p:sp>
        <p:nvSpPr>
          <p:cNvPr id="41" name="Text 35"/>
          <p:cNvSpPr/>
          <p:nvPr/>
        </p:nvSpPr>
        <p:spPr>
          <a:xfrm>
            <a:off x="6329363" y="3152180"/>
            <a:ext cx="10652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롤백 및 배포 이력 관리</a:t>
            </a:r>
            <a:endParaRPr lang="en-US" sz="834" dirty="0"/>
          </a:p>
        </p:txBody>
      </p:sp>
      <p:sp>
        <p:nvSpPr>
          <p:cNvPr id="42" name="Shape 36"/>
          <p:cNvSpPr/>
          <p:nvPr/>
        </p:nvSpPr>
        <p:spPr>
          <a:xfrm>
            <a:off x="571500" y="3736181"/>
            <a:ext cx="8001000" cy="14466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8" y="3954066"/>
            <a:ext cx="142875" cy="14287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71550" y="3921919"/>
            <a:ext cx="103157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436"/>
                </a:solidFill>
              </a:rPr>
              <a:t>전환 범위 및 기준</a:t>
            </a:r>
            <a:endParaRPr lang="en-US" sz="987" dirty="0"/>
          </a:p>
        </p:txBody>
      </p:sp>
      <p:sp>
        <p:nvSpPr>
          <p:cNvPr id="45" name="Shape 38"/>
          <p:cNvSpPr/>
          <p:nvPr/>
        </p:nvSpPr>
        <p:spPr>
          <a:xfrm>
            <a:off x="757238" y="4257675"/>
            <a:ext cx="2447934" cy="7393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Shape 39"/>
          <p:cNvSpPr/>
          <p:nvPr/>
        </p:nvSpPr>
        <p:spPr>
          <a:xfrm>
            <a:off x="885825" y="4448770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694" y="4541639"/>
            <a:ext cx="171450" cy="17145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350169" y="4386263"/>
            <a:ext cx="12561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대상 프로젝트</a:t>
            </a:r>
            <a:endParaRPr lang="en-US" sz="784" dirty="0"/>
          </a:p>
        </p:txBody>
      </p:sp>
      <p:sp>
        <p:nvSpPr>
          <p:cNvPr id="49" name="Text 41"/>
          <p:cNvSpPr/>
          <p:nvPr/>
        </p:nvSpPr>
        <p:spPr>
          <a:xfrm>
            <a:off x="1350169" y="4579144"/>
            <a:ext cx="125618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Maven 기반 Backend 서비스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(멀티 모듈 포함)</a:t>
            </a:r>
            <a:endParaRPr lang="en-US" sz="727" dirty="0"/>
          </a:p>
        </p:txBody>
      </p:sp>
      <p:sp>
        <p:nvSpPr>
          <p:cNvPr id="50" name="Shape 42"/>
          <p:cNvSpPr/>
          <p:nvPr/>
        </p:nvSpPr>
        <p:spPr>
          <a:xfrm>
            <a:off x="3348047" y="4257675"/>
            <a:ext cx="2447934" cy="7393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1" name="Shape 43"/>
          <p:cNvSpPr/>
          <p:nvPr/>
        </p:nvSpPr>
        <p:spPr>
          <a:xfrm>
            <a:off x="3476634" y="4448770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0219" y="4541639"/>
            <a:ext cx="150019" cy="17145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3940978" y="4390727"/>
            <a:ext cx="8706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브랜치 전략</a:t>
            </a:r>
            <a:endParaRPr lang="en-US" sz="784" dirty="0"/>
          </a:p>
        </p:txBody>
      </p:sp>
      <p:sp>
        <p:nvSpPr>
          <p:cNvPr id="54" name="Text 45"/>
          <p:cNvSpPr/>
          <p:nvPr/>
        </p:nvSpPr>
        <p:spPr>
          <a:xfrm>
            <a:off x="3940978" y="4583609"/>
            <a:ext cx="870617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main / dev / sit / sr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환경별 분리 운영</a:t>
            </a:r>
            <a:endParaRPr lang="en-US" sz="727" dirty="0"/>
          </a:p>
        </p:txBody>
      </p:sp>
      <p:sp>
        <p:nvSpPr>
          <p:cNvPr id="55" name="Shape 46"/>
          <p:cNvSpPr/>
          <p:nvPr/>
        </p:nvSpPr>
        <p:spPr>
          <a:xfrm>
            <a:off x="5938856" y="4257675"/>
            <a:ext cx="2447934" cy="7393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6" name="Shape 47"/>
          <p:cNvSpPr/>
          <p:nvPr/>
        </p:nvSpPr>
        <p:spPr>
          <a:xfrm>
            <a:off x="6067444" y="4448770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312" y="4541639"/>
            <a:ext cx="171450" cy="17145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531787" y="4390727"/>
            <a:ext cx="136389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인증 체계</a:t>
            </a:r>
            <a:endParaRPr lang="en-US" sz="784" dirty="0"/>
          </a:p>
        </p:txBody>
      </p:sp>
      <p:sp>
        <p:nvSpPr>
          <p:cNvPr id="59" name="Text 49"/>
          <p:cNvSpPr/>
          <p:nvPr/>
        </p:nvSpPr>
        <p:spPr>
          <a:xfrm>
            <a:off x="6531787" y="4583609"/>
            <a:ext cx="1363898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GitHub Token &amp; Nexus Token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통합 관리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GitHub 기본 설정 및 브랜치 전략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Organization 구조와 브랜치 보호 규칙으로 협업 품질 확보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2550319" cy="163770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682353"/>
            <a:ext cx="10715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1650206"/>
            <a:ext cx="123531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C5CE7"/>
                </a:solidFill>
              </a:rPr>
              <a:t>Organization 설정</a:t>
            </a:r>
            <a:endParaRPr lang="en-US" sz="98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996678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1544" y="1964531"/>
            <a:ext cx="10552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Repository 권한 모델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921544" y="2214563"/>
            <a:ext cx="32356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7"/>
          <p:cNvSpPr/>
          <p:nvPr/>
        </p:nvSpPr>
        <p:spPr>
          <a:xfrm>
            <a:off x="921544" y="2214563"/>
            <a:ext cx="323562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3436"/>
                </a:solidFill>
              </a:rPr>
              <a:t>Read</a:t>
            </a:r>
            <a:endParaRPr lang="en-US" sz="584" dirty="0"/>
          </a:p>
        </p:txBody>
      </p:sp>
      <p:sp>
        <p:nvSpPr>
          <p:cNvPr id="13" name="Shape 8"/>
          <p:cNvSpPr/>
          <p:nvPr/>
        </p:nvSpPr>
        <p:spPr>
          <a:xfrm>
            <a:off x="1280824" y="2214563"/>
            <a:ext cx="342007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Text 9"/>
          <p:cNvSpPr/>
          <p:nvPr/>
        </p:nvSpPr>
        <p:spPr>
          <a:xfrm>
            <a:off x="1280824" y="2214563"/>
            <a:ext cx="342007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3436"/>
                </a:solidFill>
              </a:rPr>
              <a:t>Write</a:t>
            </a:r>
            <a:endParaRPr lang="en-US" sz="584" dirty="0"/>
          </a:p>
        </p:txBody>
      </p:sp>
      <p:sp>
        <p:nvSpPr>
          <p:cNvPr id="15" name="Shape 10"/>
          <p:cNvSpPr/>
          <p:nvPr/>
        </p:nvSpPr>
        <p:spPr>
          <a:xfrm>
            <a:off x="1658550" y="2214563"/>
            <a:ext cx="38777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1"/>
          <p:cNvSpPr/>
          <p:nvPr/>
        </p:nvSpPr>
        <p:spPr>
          <a:xfrm>
            <a:off x="1658550" y="2214563"/>
            <a:ext cx="387772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3436"/>
                </a:solidFill>
              </a:rPr>
              <a:t>Admin</a:t>
            </a:r>
            <a:endParaRPr lang="en-US" sz="584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462808"/>
            <a:ext cx="100013" cy="1000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1544" y="2430661"/>
            <a:ext cx="82527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팀 단위 권한 매핑</a:t>
            </a:r>
            <a:endParaRPr lang="en-US" sz="834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2712839"/>
            <a:ext cx="100013" cy="1000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1544" y="2680692"/>
            <a:ext cx="120107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Secret Scanning 활성화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571500" y="3287911"/>
            <a:ext cx="2550319" cy="140910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492401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64406" y="3466505"/>
            <a:ext cx="12905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C5CE7"/>
                </a:solidFill>
              </a:rPr>
              <a:t>Branch Protection</a:t>
            </a:r>
            <a:endParaRPr lang="en-US" sz="987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800475"/>
            <a:ext cx="87511" cy="10001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9042" y="3768328"/>
            <a:ext cx="13319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PR 필수 (Direct Push 금지)</a:t>
            </a:r>
            <a:endParaRPr lang="en-US" sz="834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4050506"/>
            <a:ext cx="125016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46547" y="4018359"/>
            <a:ext cx="9958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최소 1명 리뷰어 승인</a:t>
            </a:r>
            <a:endParaRPr lang="en-US" sz="834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94" y="4300538"/>
            <a:ext cx="100013" cy="10001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21544" y="4268391"/>
            <a:ext cx="13085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CI Status Check 통과 필수</a:t>
            </a:r>
            <a:endParaRPr lang="en-US" sz="834" dirty="0"/>
          </a:p>
        </p:txBody>
      </p:sp>
      <p:sp>
        <p:nvSpPr>
          <p:cNvPr id="30" name="Shape 19"/>
          <p:cNvSpPr/>
          <p:nvPr/>
        </p:nvSpPr>
        <p:spPr>
          <a:xfrm>
            <a:off x="3407569" y="1471613"/>
            <a:ext cx="5164903" cy="353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0"/>
          <p:cNvSpPr/>
          <p:nvPr/>
        </p:nvSpPr>
        <p:spPr>
          <a:xfrm>
            <a:off x="3621881" y="1685925"/>
            <a:ext cx="47362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Git Flow 기반 브랜치 전략</a:t>
            </a:r>
            <a:endParaRPr lang="en-US" sz="1090" dirty="0"/>
          </a:p>
        </p:txBody>
      </p:sp>
      <p:sp>
        <p:nvSpPr>
          <p:cNvPr id="32" name="Shape 21"/>
          <p:cNvSpPr/>
          <p:nvPr/>
        </p:nvSpPr>
        <p:spPr>
          <a:xfrm>
            <a:off x="4336256" y="2127052"/>
            <a:ext cx="3879028" cy="533995"/>
          </a:xfrm>
          <a:prstGeom prst="rect">
            <a:avLst/>
          </a:prstGeom>
          <a:solidFill>
            <a:srgbClr val="E74C3C">
              <a:alpha val="5000"/>
            </a:srgbClr>
          </a:solidFill>
          <a:ln/>
        </p:spPr>
      </p:sp>
      <p:sp>
        <p:nvSpPr>
          <p:cNvPr id="33" name="Shape 22"/>
          <p:cNvSpPr/>
          <p:nvPr/>
        </p:nvSpPr>
        <p:spPr>
          <a:xfrm>
            <a:off x="4336256" y="2127052"/>
            <a:ext cx="28575" cy="533995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23"/>
          <p:cNvSpPr/>
          <p:nvPr/>
        </p:nvSpPr>
        <p:spPr>
          <a:xfrm>
            <a:off x="4479131" y="2234208"/>
            <a:ext cx="14159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main</a:t>
            </a:r>
            <a:endParaRPr lang="en-US" sz="885" dirty="0"/>
          </a:p>
        </p:txBody>
      </p:sp>
      <p:sp>
        <p:nvSpPr>
          <p:cNvPr id="35" name="Text 24"/>
          <p:cNvSpPr/>
          <p:nvPr/>
        </p:nvSpPr>
        <p:spPr>
          <a:xfrm>
            <a:off x="4479131" y="2409230"/>
            <a:ext cx="14159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운영 환경 배포 기준 (Production)</a:t>
            </a:r>
            <a:endParaRPr lang="en-US" sz="727" dirty="0"/>
          </a:p>
        </p:txBody>
      </p:sp>
      <p:sp>
        <p:nvSpPr>
          <p:cNvPr id="36" name="Shape 25"/>
          <p:cNvSpPr/>
          <p:nvPr/>
        </p:nvSpPr>
        <p:spPr>
          <a:xfrm>
            <a:off x="7439909" y="2307431"/>
            <a:ext cx="632501" cy="173236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7059" y="2351187"/>
            <a:ext cx="75009" cy="85725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607787" y="2336006"/>
            <a:ext cx="4074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</a:rPr>
              <a:t>Protected</a:t>
            </a:r>
            <a:endParaRPr lang="en-US" sz="584" dirty="0"/>
          </a:p>
        </p:txBody>
      </p:sp>
      <p:sp>
        <p:nvSpPr>
          <p:cNvPr id="39" name="Shape 27"/>
          <p:cNvSpPr/>
          <p:nvPr/>
        </p:nvSpPr>
        <p:spPr>
          <a:xfrm>
            <a:off x="4336256" y="2661047"/>
            <a:ext cx="3879028" cy="5339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Shape 28"/>
          <p:cNvSpPr/>
          <p:nvPr/>
        </p:nvSpPr>
        <p:spPr>
          <a:xfrm>
            <a:off x="4336256" y="2661047"/>
            <a:ext cx="28575" cy="533995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41" name="Text 29"/>
          <p:cNvSpPr/>
          <p:nvPr/>
        </p:nvSpPr>
        <p:spPr>
          <a:xfrm>
            <a:off x="4479131" y="2768203"/>
            <a:ext cx="10182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sr</a:t>
            </a:r>
            <a:endParaRPr lang="en-US" sz="885" dirty="0"/>
          </a:p>
        </p:txBody>
      </p:sp>
      <p:sp>
        <p:nvSpPr>
          <p:cNvPr id="42" name="Text 30"/>
          <p:cNvSpPr/>
          <p:nvPr/>
        </p:nvSpPr>
        <p:spPr>
          <a:xfrm>
            <a:off x="4479131" y="2943225"/>
            <a:ext cx="101823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Staging / Release 준비</a:t>
            </a:r>
            <a:endParaRPr lang="en-US" sz="727" dirty="0"/>
          </a:p>
        </p:txBody>
      </p:sp>
      <p:sp>
        <p:nvSpPr>
          <p:cNvPr id="43" name="Shape 31"/>
          <p:cNvSpPr/>
          <p:nvPr/>
        </p:nvSpPr>
        <p:spPr>
          <a:xfrm>
            <a:off x="4336256" y="3195042"/>
            <a:ext cx="3879028" cy="5339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Shape 32"/>
          <p:cNvSpPr/>
          <p:nvPr/>
        </p:nvSpPr>
        <p:spPr>
          <a:xfrm>
            <a:off x="4336256" y="3195042"/>
            <a:ext cx="28575" cy="533995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45" name="Text 33"/>
          <p:cNvSpPr/>
          <p:nvPr/>
        </p:nvSpPr>
        <p:spPr>
          <a:xfrm>
            <a:off x="4479131" y="3302198"/>
            <a:ext cx="16185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sit</a:t>
            </a:r>
            <a:endParaRPr lang="en-US" sz="885" dirty="0"/>
          </a:p>
        </p:txBody>
      </p:sp>
      <p:sp>
        <p:nvSpPr>
          <p:cNvPr id="46" name="Text 34"/>
          <p:cNvSpPr/>
          <p:nvPr/>
        </p:nvSpPr>
        <p:spPr>
          <a:xfrm>
            <a:off x="4479131" y="3477220"/>
            <a:ext cx="16185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시스템 통합 테스트 (Integration Test)</a:t>
            </a:r>
            <a:endParaRPr lang="en-US" sz="727" dirty="0"/>
          </a:p>
        </p:txBody>
      </p:sp>
      <p:sp>
        <p:nvSpPr>
          <p:cNvPr id="47" name="Shape 35"/>
          <p:cNvSpPr/>
          <p:nvPr/>
        </p:nvSpPr>
        <p:spPr>
          <a:xfrm>
            <a:off x="4336256" y="3729038"/>
            <a:ext cx="3879028" cy="533995"/>
          </a:xfrm>
          <a:prstGeom prst="rect">
            <a:avLst/>
          </a:prstGeom>
          <a:solidFill>
            <a:srgbClr val="6C5CE7">
              <a:alpha val="5000"/>
            </a:srgbClr>
          </a:solidFill>
          <a:ln/>
        </p:spPr>
      </p:sp>
      <p:sp>
        <p:nvSpPr>
          <p:cNvPr id="48" name="Shape 36"/>
          <p:cNvSpPr/>
          <p:nvPr/>
        </p:nvSpPr>
        <p:spPr>
          <a:xfrm>
            <a:off x="4336256" y="3729038"/>
            <a:ext cx="28575" cy="533995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9" name="Text 37"/>
          <p:cNvSpPr/>
          <p:nvPr/>
        </p:nvSpPr>
        <p:spPr>
          <a:xfrm>
            <a:off x="4479131" y="3836194"/>
            <a:ext cx="1320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dev</a:t>
            </a:r>
            <a:endParaRPr lang="en-US" sz="885" dirty="0"/>
          </a:p>
        </p:txBody>
      </p:sp>
      <p:sp>
        <p:nvSpPr>
          <p:cNvPr id="50" name="Text 38"/>
          <p:cNvSpPr/>
          <p:nvPr/>
        </p:nvSpPr>
        <p:spPr>
          <a:xfrm>
            <a:off x="4479131" y="4011216"/>
            <a:ext cx="132036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개발 환경 통합 (Development)</a:t>
            </a:r>
            <a:endParaRPr lang="en-US" sz="727" dirty="0"/>
          </a:p>
        </p:txBody>
      </p:sp>
      <p:sp>
        <p:nvSpPr>
          <p:cNvPr id="51" name="Shape 39"/>
          <p:cNvSpPr/>
          <p:nvPr/>
        </p:nvSpPr>
        <p:spPr>
          <a:xfrm>
            <a:off x="7648222" y="3909417"/>
            <a:ext cx="424188" cy="173236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5372" y="3953173"/>
            <a:ext cx="75009" cy="85725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816100" y="3937992"/>
            <a:ext cx="1991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C5CE7"/>
                </a:solidFill>
              </a:rPr>
              <a:t>Base</a:t>
            </a:r>
            <a:endParaRPr lang="en-US" sz="584" dirty="0"/>
          </a:p>
        </p:txBody>
      </p:sp>
      <p:sp>
        <p:nvSpPr>
          <p:cNvPr id="54" name="Shape 41"/>
          <p:cNvSpPr/>
          <p:nvPr/>
        </p:nvSpPr>
        <p:spPr>
          <a:xfrm>
            <a:off x="4336256" y="4263033"/>
            <a:ext cx="3879028" cy="533995"/>
          </a:xfrm>
          <a:prstGeom prst="rect">
            <a:avLst/>
          </a:prstGeom>
          <a:solidFill>
            <a:srgbClr val="00B894">
              <a:alpha val="5000"/>
            </a:srgbClr>
          </a:solidFill>
          <a:ln/>
        </p:spPr>
      </p:sp>
      <p:sp>
        <p:nvSpPr>
          <p:cNvPr id="55" name="Shape 42"/>
          <p:cNvSpPr/>
          <p:nvPr/>
        </p:nvSpPr>
        <p:spPr>
          <a:xfrm>
            <a:off x="4336256" y="4263033"/>
            <a:ext cx="28575" cy="533995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6" name="Text 43"/>
          <p:cNvSpPr/>
          <p:nvPr/>
        </p:nvSpPr>
        <p:spPr>
          <a:xfrm>
            <a:off x="4479131" y="4370189"/>
            <a:ext cx="15708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feature/*</a:t>
            </a:r>
            <a:endParaRPr lang="en-US" sz="885" dirty="0"/>
          </a:p>
        </p:txBody>
      </p:sp>
      <p:sp>
        <p:nvSpPr>
          <p:cNvPr id="57" name="Text 44"/>
          <p:cNvSpPr/>
          <p:nvPr/>
        </p:nvSpPr>
        <p:spPr>
          <a:xfrm>
            <a:off x="4479131" y="4545211"/>
            <a:ext cx="157089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개인 작업 브랜치 (feature/login-api)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Maven &amp; Nexus 연동 설정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settings.xml 구성 및 Artifact 업로드 프로세스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00175"/>
            <a:ext cx="3893344" cy="2000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71625"/>
            <a:ext cx="117872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3684" y="1543050"/>
            <a:ext cx="150311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C5CE7"/>
                </a:solidFill>
              </a:rPr>
              <a:t>Maven settings.xml</a:t>
            </a:r>
            <a:endParaRPr lang="en-US" sz="109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00250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5831" y="1971675"/>
            <a:ext cx="23963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Server 인증 설정</a:t>
            </a:r>
            <a:endParaRPr lang="en-US" sz="784" dirty="0"/>
          </a:p>
        </p:txBody>
      </p:sp>
      <p:sp>
        <p:nvSpPr>
          <p:cNvPr id="11" name="Text 6"/>
          <p:cNvSpPr/>
          <p:nvPr/>
        </p:nvSpPr>
        <p:spPr>
          <a:xfrm>
            <a:off x="935831" y="2159198"/>
            <a:ext cx="23963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계정 직접 사용 금지, Nexus Token 기반 인증 적용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28875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5831" y="2400300"/>
            <a:ext cx="20396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Profile 분리</a:t>
            </a:r>
            <a:endParaRPr lang="en-US" sz="784" dirty="0"/>
          </a:p>
        </p:txBody>
      </p:sp>
      <p:sp>
        <p:nvSpPr>
          <p:cNvPr id="14" name="Text 8"/>
          <p:cNvSpPr/>
          <p:nvPr/>
        </p:nvSpPr>
        <p:spPr>
          <a:xfrm>
            <a:off x="935831" y="2587823"/>
            <a:ext cx="20396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로컬 개발용 vs CI 서버용 Profile 구분 적용</a:t>
            </a:r>
            <a:endParaRPr lang="en-US" sz="83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857500"/>
            <a:ext cx="128588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0119" y="2828925"/>
            <a:ext cx="22495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Repository 구조 반영</a:t>
            </a:r>
            <a:endParaRPr lang="en-US" sz="784" dirty="0"/>
          </a:p>
        </p:txBody>
      </p:sp>
      <p:sp>
        <p:nvSpPr>
          <p:cNvPr id="17" name="Text 10"/>
          <p:cNvSpPr/>
          <p:nvPr/>
        </p:nvSpPr>
        <p:spPr>
          <a:xfrm>
            <a:off x="950119" y="3016448"/>
            <a:ext cx="22495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Snapshot / Release / Proxy 저장소 URL 명시</a:t>
            </a:r>
            <a:endParaRPr lang="en-US" sz="834" dirty="0"/>
          </a:p>
        </p:txBody>
      </p:sp>
      <p:sp>
        <p:nvSpPr>
          <p:cNvPr id="18" name="Shape 11"/>
          <p:cNvSpPr/>
          <p:nvPr/>
        </p:nvSpPr>
        <p:spPr>
          <a:xfrm>
            <a:off x="4679156" y="1400175"/>
            <a:ext cx="3893344" cy="2000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1577876"/>
            <a:ext cx="157163" cy="1571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50631" y="1543050"/>
            <a:ext cx="16747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C5CE7"/>
                </a:solidFill>
              </a:rPr>
              <a:t>Nexus Repository 구조</a:t>
            </a:r>
            <a:endParaRPr lang="en-US" sz="109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012752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43488" y="1984177"/>
            <a:ext cx="23051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Snapshot Repository</a:t>
            </a:r>
            <a:endParaRPr lang="en-US" sz="784" dirty="0"/>
          </a:p>
        </p:txBody>
      </p:sp>
      <p:sp>
        <p:nvSpPr>
          <p:cNvPr id="23" name="Text 14"/>
          <p:cNvSpPr/>
          <p:nvPr/>
        </p:nvSpPr>
        <p:spPr>
          <a:xfrm>
            <a:off x="5043488" y="2162770"/>
            <a:ext cx="23051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개발 중인 빌드 결과물 (수시 변경, 버전 덮어쓰기)</a:t>
            </a:r>
            <a:endParaRPr lang="en-US" sz="834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031" y="2432447"/>
            <a:ext cx="100013" cy="1143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29200" y="2403872"/>
            <a:ext cx="21402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Release Repository</a:t>
            </a:r>
            <a:endParaRPr lang="en-US" sz="784" dirty="0"/>
          </a:p>
        </p:txBody>
      </p:sp>
      <p:sp>
        <p:nvSpPr>
          <p:cNvPr id="26" name="Text 16"/>
          <p:cNvSpPr/>
          <p:nvPr/>
        </p:nvSpPr>
        <p:spPr>
          <a:xfrm>
            <a:off x="5029200" y="2582466"/>
            <a:ext cx="21402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정식 배포 Artifact (버전 고정, 재업로드 불가)</a:t>
            </a:r>
            <a:endParaRPr lang="en-US" sz="834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2852142"/>
            <a:ext cx="114300" cy="1143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43488" y="2823567"/>
            <a:ext cx="19482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Proxy Repository</a:t>
            </a:r>
            <a:endParaRPr lang="en-US" sz="784" dirty="0"/>
          </a:p>
        </p:txBody>
      </p:sp>
      <p:sp>
        <p:nvSpPr>
          <p:cNvPr id="29" name="Text 18"/>
          <p:cNvSpPr/>
          <p:nvPr/>
        </p:nvSpPr>
        <p:spPr>
          <a:xfrm>
            <a:off x="5043488" y="3002161"/>
            <a:ext cx="19482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Maven Central 등 외부 라이브러리 캐싱</a:t>
            </a:r>
            <a:endParaRPr lang="en-US" sz="834" dirty="0"/>
          </a:p>
        </p:txBody>
      </p:sp>
      <p:sp>
        <p:nvSpPr>
          <p:cNvPr id="30" name="Shape 19"/>
          <p:cNvSpPr/>
          <p:nvPr/>
        </p:nvSpPr>
        <p:spPr>
          <a:xfrm>
            <a:off x="571500" y="3443288"/>
            <a:ext cx="8001000" cy="16823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0"/>
          <p:cNvSpPr/>
          <p:nvPr/>
        </p:nvSpPr>
        <p:spPr>
          <a:xfrm>
            <a:off x="714375" y="3586163"/>
            <a:ext cx="7715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436"/>
                </a:solidFill>
              </a:rPr>
              <a:t>Maven ↔ Nexus 연동 흐름</a:t>
            </a:r>
            <a:endParaRPr lang="en-US" sz="987" dirty="0"/>
          </a:p>
        </p:txBody>
      </p:sp>
      <p:sp>
        <p:nvSpPr>
          <p:cNvPr id="32" name="Shape 21"/>
          <p:cNvSpPr/>
          <p:nvPr/>
        </p:nvSpPr>
        <p:spPr>
          <a:xfrm>
            <a:off x="1250156" y="3921919"/>
            <a:ext cx="500063" cy="500063"/>
          </a:xfrm>
          <a:prstGeom prst="ellipse">
            <a:avLst/>
          </a:prstGeom>
          <a:solidFill>
            <a:srgbClr val="6C5CE7">
              <a:alpha val="10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7673" y="4071938"/>
            <a:ext cx="225028" cy="20002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289335" y="4493419"/>
            <a:ext cx="4216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1. Build</a:t>
            </a:r>
            <a:endParaRPr lang="en-US" sz="784" dirty="0"/>
          </a:p>
        </p:txBody>
      </p:sp>
      <p:sp>
        <p:nvSpPr>
          <p:cNvPr id="35" name="Text 23"/>
          <p:cNvSpPr/>
          <p:nvPr/>
        </p:nvSpPr>
        <p:spPr>
          <a:xfrm>
            <a:off x="1119001" y="4720233"/>
            <a:ext cx="76237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mvn clean deploy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명령어 실행</a:t>
            </a:r>
            <a:endParaRPr lang="en-US" sz="674" dirty="0"/>
          </a:p>
        </p:txBody>
      </p:sp>
      <p:sp>
        <p:nvSpPr>
          <p:cNvPr id="36" name="Shape 24"/>
          <p:cNvSpPr/>
          <p:nvPr/>
        </p:nvSpPr>
        <p:spPr>
          <a:xfrm>
            <a:off x="2214563" y="4266605"/>
            <a:ext cx="619134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37" name="Shape 25"/>
          <p:cNvSpPr/>
          <p:nvPr/>
        </p:nvSpPr>
        <p:spPr>
          <a:xfrm>
            <a:off x="3298041" y="3921919"/>
            <a:ext cx="500063" cy="500063"/>
          </a:xfrm>
          <a:prstGeom prst="ellipse">
            <a:avLst/>
          </a:prstGeom>
          <a:solidFill>
            <a:srgbClr val="6C5CE7">
              <a:alpha val="10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3062" y="4071938"/>
            <a:ext cx="150019" cy="200025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244546" y="4493419"/>
            <a:ext cx="6070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2. Package</a:t>
            </a:r>
            <a:endParaRPr lang="en-US" sz="784" dirty="0"/>
          </a:p>
        </p:txBody>
      </p:sp>
      <p:sp>
        <p:nvSpPr>
          <p:cNvPr id="40" name="Text 27"/>
          <p:cNvSpPr/>
          <p:nvPr/>
        </p:nvSpPr>
        <p:spPr>
          <a:xfrm>
            <a:off x="3291873" y="4720233"/>
            <a:ext cx="512369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JAR / WAR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Artifact 생성</a:t>
            </a:r>
            <a:endParaRPr lang="en-US" sz="674" dirty="0"/>
          </a:p>
        </p:txBody>
      </p:sp>
      <p:sp>
        <p:nvSpPr>
          <p:cNvPr id="41" name="Shape 28"/>
          <p:cNvSpPr/>
          <p:nvPr/>
        </p:nvSpPr>
        <p:spPr>
          <a:xfrm>
            <a:off x="4262447" y="4266605"/>
            <a:ext cx="619134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42" name="Shape 29"/>
          <p:cNvSpPr/>
          <p:nvPr/>
        </p:nvSpPr>
        <p:spPr>
          <a:xfrm>
            <a:off x="5345925" y="3921919"/>
            <a:ext cx="500063" cy="500063"/>
          </a:xfrm>
          <a:prstGeom prst="ellipse">
            <a:avLst/>
          </a:prstGeom>
          <a:solidFill>
            <a:srgbClr val="6C5CE7">
              <a:alpha val="10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0947" y="4071938"/>
            <a:ext cx="150019" cy="200025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392778" y="4493419"/>
            <a:ext cx="4063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3. Auth</a:t>
            </a:r>
            <a:endParaRPr lang="en-US" sz="784" dirty="0"/>
          </a:p>
        </p:txBody>
      </p:sp>
      <p:sp>
        <p:nvSpPr>
          <p:cNvPr id="45" name="Text 31"/>
          <p:cNvSpPr/>
          <p:nvPr/>
        </p:nvSpPr>
        <p:spPr>
          <a:xfrm>
            <a:off x="5330103" y="4720233"/>
            <a:ext cx="531679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settings.xml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Token 인증</a:t>
            </a:r>
            <a:endParaRPr lang="en-US" sz="674" dirty="0"/>
          </a:p>
        </p:txBody>
      </p:sp>
      <p:sp>
        <p:nvSpPr>
          <p:cNvPr id="46" name="Shape 32"/>
          <p:cNvSpPr/>
          <p:nvPr/>
        </p:nvSpPr>
        <p:spPr>
          <a:xfrm>
            <a:off x="6310331" y="4266605"/>
            <a:ext cx="619134" cy="14288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47" name="Shape 33"/>
          <p:cNvSpPr/>
          <p:nvPr/>
        </p:nvSpPr>
        <p:spPr>
          <a:xfrm>
            <a:off x="7393809" y="3921919"/>
            <a:ext cx="500063" cy="500063"/>
          </a:xfrm>
          <a:prstGeom prst="ellipse">
            <a:avLst/>
          </a:prstGeom>
          <a:solidFill>
            <a:srgbClr val="6C5CE7">
              <a:alpha val="10000"/>
            </a:srgbClr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8825" y="4071938"/>
            <a:ext cx="250031" cy="200025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7377122" y="4493419"/>
            <a:ext cx="5334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4. Upload</a:t>
            </a:r>
            <a:endParaRPr lang="en-US" sz="784" dirty="0"/>
          </a:p>
        </p:txBody>
      </p:sp>
      <p:sp>
        <p:nvSpPr>
          <p:cNvPr id="50" name="Text 35"/>
          <p:cNvSpPr/>
          <p:nvPr/>
        </p:nvSpPr>
        <p:spPr>
          <a:xfrm>
            <a:off x="7254255" y="4720233"/>
            <a:ext cx="779171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Snapshot/Release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자동 분기 저장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인증 정보 및 보안 설정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Token 기반 인증과 GitHub Secret 관리로 보안 사고 예방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2524116" cy="2671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85813" y="1685925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81" y="1778794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0156" y="1751112"/>
            <a:ext cx="819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Nexus 인증</a:t>
            </a:r>
            <a:endParaRPr lang="en-US" sz="109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371725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50" y="2343150"/>
            <a:ext cx="19097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Token 생성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Nexus UI에서 User Token 발급 (만료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기간 설정)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014663"/>
            <a:ext cx="112514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4052" y="2986088"/>
            <a:ext cx="1559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Jenkins 연동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Credential Store에 Token 저장</a:t>
            </a:r>
            <a:endParaRPr lang="en-US" sz="834" dirty="0"/>
          </a:p>
        </p:txBody>
      </p:sp>
      <p:sp>
        <p:nvSpPr>
          <p:cNvPr id="14" name="Shape 8"/>
          <p:cNvSpPr/>
          <p:nvPr/>
        </p:nvSpPr>
        <p:spPr>
          <a:xfrm>
            <a:off x="785813" y="3570089"/>
            <a:ext cx="2095491" cy="35897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Shape 9"/>
          <p:cNvSpPr/>
          <p:nvPr/>
        </p:nvSpPr>
        <p:spPr>
          <a:xfrm>
            <a:off x="785813" y="3570089"/>
            <a:ext cx="28575" cy="358973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9" y="3704034"/>
            <a:ext cx="100013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0131" y="3686175"/>
            <a:ext cx="15302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계정 직접 사용 금지 (로그 노출 방지)</a:t>
            </a:r>
            <a:endParaRPr lang="en-US" sz="727" dirty="0"/>
          </a:p>
        </p:txBody>
      </p:sp>
      <p:sp>
        <p:nvSpPr>
          <p:cNvPr id="18" name="Shape 11"/>
          <p:cNvSpPr/>
          <p:nvPr/>
        </p:nvSpPr>
        <p:spPr>
          <a:xfrm>
            <a:off x="3309928" y="1471613"/>
            <a:ext cx="2524116" cy="2671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2"/>
          <p:cNvSpPr/>
          <p:nvPr/>
        </p:nvSpPr>
        <p:spPr>
          <a:xfrm>
            <a:off x="3524241" y="1685925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788" y="1778794"/>
            <a:ext cx="166092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88584" y="1751112"/>
            <a:ext cx="8829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GitHub 인증</a:t>
            </a:r>
            <a:endParaRPr lang="en-US" sz="109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2371725"/>
            <a:ext cx="112514" cy="10001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22480" y="2343150"/>
            <a:ext cx="14460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PAT 생성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Personal Access Token 발급</a:t>
            </a:r>
            <a:endParaRPr lang="en-US" sz="834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2843213"/>
            <a:ext cx="125016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34981" y="2814638"/>
            <a:ext cx="188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최소 권한 원칙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repo, workflow, read:org 필수 권한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만 부여</a:t>
            </a:r>
            <a:endParaRPr lang="en-US" sz="834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3486150"/>
            <a:ext cx="100013" cy="1000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09978" y="3457575"/>
            <a:ext cx="1146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만료 관리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주기적 Token 갱신 필수</a:t>
            </a:r>
            <a:endParaRPr lang="en-US" sz="834" dirty="0"/>
          </a:p>
        </p:txBody>
      </p:sp>
      <p:sp>
        <p:nvSpPr>
          <p:cNvPr id="28" name="Shape 17"/>
          <p:cNvSpPr/>
          <p:nvPr/>
        </p:nvSpPr>
        <p:spPr>
          <a:xfrm>
            <a:off x="6048356" y="1471613"/>
            <a:ext cx="2524144" cy="2671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8"/>
          <p:cNvSpPr/>
          <p:nvPr/>
        </p:nvSpPr>
        <p:spPr>
          <a:xfrm>
            <a:off x="6262669" y="1685925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6253" y="1778794"/>
            <a:ext cx="150019" cy="17145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727013" y="1751112"/>
            <a:ext cx="819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Secret 관리</a:t>
            </a:r>
            <a:endParaRPr lang="en-US" sz="109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2669" y="2371725"/>
            <a:ext cx="100013" cy="100013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448406" y="2343150"/>
            <a:ext cx="1140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Repository Secret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프로젝트 공통 민감 정보</a:t>
            </a:r>
            <a:endParaRPr lang="en-US" sz="834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2669" y="2843213"/>
            <a:ext cx="100013" cy="100013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448406" y="2814638"/>
            <a:ext cx="13518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Environment Secret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환경별(dev/prod) 분리 관리</a:t>
            </a:r>
            <a:endParaRPr lang="en-US" sz="834" dirty="0"/>
          </a:p>
        </p:txBody>
      </p:sp>
      <p:sp>
        <p:nvSpPr>
          <p:cNvPr id="36" name="Shape 22"/>
          <p:cNvSpPr/>
          <p:nvPr/>
        </p:nvSpPr>
        <p:spPr>
          <a:xfrm>
            <a:off x="6262669" y="3570089"/>
            <a:ext cx="2095519" cy="35897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7" name="Shape 23"/>
          <p:cNvSpPr/>
          <p:nvPr/>
        </p:nvSpPr>
        <p:spPr>
          <a:xfrm>
            <a:off x="6262669" y="3570089"/>
            <a:ext cx="28575" cy="358973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9825" y="3704034"/>
            <a:ext cx="100013" cy="100013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526988" y="3686175"/>
            <a:ext cx="12752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Secret 값 로그 직접 출력 금지</a:t>
            </a:r>
            <a:endParaRPr lang="en-US" sz="727" dirty="0"/>
          </a:p>
        </p:txBody>
      </p:sp>
      <p:sp>
        <p:nvSpPr>
          <p:cNvPr id="40" name="Shape 25"/>
          <p:cNvSpPr/>
          <p:nvPr/>
        </p:nvSpPr>
        <p:spPr>
          <a:xfrm>
            <a:off x="571500" y="4357688"/>
            <a:ext cx="8001000" cy="492919"/>
          </a:xfrm>
          <a:prstGeom prst="rect">
            <a:avLst/>
          </a:prstGeom>
          <a:solidFill>
            <a:srgbClr val="2D3436"/>
          </a:solidFill>
          <a:ln/>
        </p:spPr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50" y="4532709"/>
            <a:ext cx="107156" cy="142875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1071563" y="4500563"/>
            <a:ext cx="994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보안 체크 포인트</a:t>
            </a:r>
            <a:endParaRPr lang="en-US" sz="987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1159" y="4546997"/>
            <a:ext cx="114300" cy="11430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4816897" y="4521994"/>
            <a:ext cx="1040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FE6E9"/>
                </a:solidFill>
              </a:rPr>
              <a:t>Token 만료 주기 점검</a:t>
            </a:r>
            <a:endParaRPr lang="en-US" sz="834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597" y="4546997"/>
            <a:ext cx="114300" cy="114300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329335" y="4521994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FE6E9"/>
                </a:solidFill>
              </a:rPr>
              <a:t>로그 스캔 자동화</a:t>
            </a:r>
            <a:endParaRPr lang="en-US" sz="834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0636" y="4546997"/>
            <a:ext cx="114300" cy="114300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7596374" y="4521994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FE6E9"/>
                </a:solidFill>
              </a:rPr>
              <a:t>권한 정기 감사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Pull Request 운영 가이드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PR 템플릿과 리뷰 정책으로 코드 품질 및 협업 효율성 향상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2524116" cy="2880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2497243" y="1400175"/>
            <a:ext cx="6698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000000">
                    <a:alpha val="3000"/>
                  </a:srgbClr>
                </a:solidFill>
              </a:rPr>
              <a:t>01</a:t>
            </a:r>
            <a:endParaRPr lang="en-US" sz="4145" dirty="0"/>
          </a:p>
        </p:txBody>
      </p:sp>
      <p:sp>
        <p:nvSpPr>
          <p:cNvPr id="8" name="Shape 5"/>
          <p:cNvSpPr/>
          <p:nvPr/>
        </p:nvSpPr>
        <p:spPr>
          <a:xfrm>
            <a:off x="785813" y="1685925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97" y="1778794"/>
            <a:ext cx="150019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0156" y="1751112"/>
            <a:ext cx="5324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PR 생성</a:t>
            </a:r>
            <a:endParaRPr lang="en-US" sz="109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371725"/>
            <a:ext cx="87511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4761" y="2343150"/>
            <a:ext cx="12337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브랜치 흐름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feature/api-user → dev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821781"/>
            <a:ext cx="75009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259" y="2793206"/>
            <a:ext cx="16523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PR 템플릿 필수 작성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변경 사항, 테스트 결과, 체크리스트</a:t>
            </a:r>
            <a:endParaRPr lang="en-US" sz="83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271838"/>
            <a:ext cx="125016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82266" y="3243263"/>
            <a:ext cx="18274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CI 자동 트리거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PR 생성 시 GitHub Actions 자동 실행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3309928" y="1471613"/>
            <a:ext cx="2524116" cy="2880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1"/>
          <p:cNvSpPr/>
          <p:nvPr/>
        </p:nvSpPr>
        <p:spPr>
          <a:xfrm>
            <a:off x="5235671" y="1400175"/>
            <a:ext cx="6698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000000">
                    <a:alpha val="3000"/>
                  </a:srgbClr>
                </a:solidFill>
              </a:rPr>
              <a:t>02</a:t>
            </a:r>
            <a:endParaRPr lang="en-US" sz="4145" dirty="0"/>
          </a:p>
        </p:txBody>
      </p:sp>
      <p:sp>
        <p:nvSpPr>
          <p:cNvPr id="19" name="Shape 12"/>
          <p:cNvSpPr/>
          <p:nvPr/>
        </p:nvSpPr>
        <p:spPr>
          <a:xfrm>
            <a:off x="3524241" y="1685925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678" y="1778794"/>
            <a:ext cx="214313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88584" y="1751112"/>
            <a:ext cx="619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리뷰 정책</a:t>
            </a:r>
            <a:endParaRPr lang="en-US" sz="109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2371725"/>
            <a:ext cx="125016" cy="10001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20694" y="2343150"/>
            <a:ext cx="18962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Reviewer 지정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최소 1명 이상 (Code Owner 자동 할당)</a:t>
            </a:r>
            <a:endParaRPr lang="en-US" sz="834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2821781"/>
            <a:ext cx="100013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95691" y="2793206"/>
            <a:ext cx="1606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승인 조건 (All Pass)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CI 통과 + 리뷰어 승인 + 충돌 해결</a:t>
            </a:r>
            <a:endParaRPr lang="en-US" sz="834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3271838"/>
            <a:ext cx="100013" cy="1000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95691" y="3243263"/>
            <a:ext cx="17871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36E72"/>
                </a:solidFill>
              </a:rPr>
              <a:t>중점 리뷰 항목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36E72"/>
                </a:solidFill>
              </a:rPr>
              <a:t> 코드 품질, 테스트 커버리지, 보안 이슈</a:t>
            </a:r>
            <a:endParaRPr lang="en-US" sz="834" dirty="0"/>
          </a:p>
        </p:txBody>
      </p:sp>
      <p:sp>
        <p:nvSpPr>
          <p:cNvPr id="28" name="Shape 17"/>
          <p:cNvSpPr/>
          <p:nvPr/>
        </p:nvSpPr>
        <p:spPr>
          <a:xfrm>
            <a:off x="6048356" y="1471613"/>
            <a:ext cx="2524116" cy="2880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18"/>
          <p:cNvSpPr/>
          <p:nvPr/>
        </p:nvSpPr>
        <p:spPr>
          <a:xfrm>
            <a:off x="7974099" y="1400175"/>
            <a:ext cx="6698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000000">
                    <a:alpha val="3000"/>
                  </a:srgbClr>
                </a:solidFill>
              </a:rPr>
              <a:t>03</a:t>
            </a:r>
            <a:endParaRPr lang="en-US" sz="4145" dirty="0"/>
          </a:p>
        </p:txBody>
      </p:sp>
      <p:sp>
        <p:nvSpPr>
          <p:cNvPr id="30" name="Shape 19"/>
          <p:cNvSpPr/>
          <p:nvPr/>
        </p:nvSpPr>
        <p:spPr>
          <a:xfrm>
            <a:off x="6262669" y="1685925"/>
            <a:ext cx="357188" cy="357188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6253" y="1778794"/>
            <a:ext cx="150019" cy="17145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727013" y="1751112"/>
            <a:ext cx="619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병합 전략</a:t>
            </a:r>
            <a:endParaRPr lang="en-US" sz="1090" dirty="0"/>
          </a:p>
        </p:txBody>
      </p:sp>
      <p:sp>
        <p:nvSpPr>
          <p:cNvPr id="33" name="Shape 21"/>
          <p:cNvSpPr/>
          <p:nvPr/>
        </p:nvSpPr>
        <p:spPr>
          <a:xfrm>
            <a:off x="6262669" y="2378869"/>
            <a:ext cx="2095491" cy="491133"/>
          </a:xfrm>
          <a:prstGeom prst="rect">
            <a:avLst/>
          </a:prstGeom>
          <a:solidFill>
            <a:srgbClr val="6C5CE7">
              <a:alpha val="5000"/>
            </a:srgbClr>
          </a:solidFill>
          <a:ln/>
        </p:spPr>
      </p:sp>
      <p:sp>
        <p:nvSpPr>
          <p:cNvPr id="34" name="Shape 22"/>
          <p:cNvSpPr/>
          <p:nvPr/>
        </p:nvSpPr>
        <p:spPr>
          <a:xfrm>
            <a:off x="6262669" y="2378869"/>
            <a:ext cx="28575" cy="491133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5" name="Text 23"/>
          <p:cNvSpPr/>
          <p:nvPr/>
        </p:nvSpPr>
        <p:spPr>
          <a:xfrm>
            <a:off x="6348394" y="2464594"/>
            <a:ext cx="8070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Squash Merge</a:t>
            </a:r>
            <a:endParaRPr lang="en-US" sz="784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3847" y="2464594"/>
            <a:ext cx="128588" cy="155377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348394" y="2648545"/>
            <a:ext cx="1924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커밋 히스토리 단일화, 깔끔한 이력 관리</a:t>
            </a:r>
            <a:endParaRPr lang="en-US" sz="674" dirty="0"/>
          </a:p>
        </p:txBody>
      </p:sp>
      <p:sp>
        <p:nvSpPr>
          <p:cNvPr id="38" name="Shape 25"/>
          <p:cNvSpPr/>
          <p:nvPr/>
        </p:nvSpPr>
        <p:spPr>
          <a:xfrm>
            <a:off x="6262669" y="3012877"/>
            <a:ext cx="2095491" cy="49113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Shape 26"/>
          <p:cNvSpPr/>
          <p:nvPr/>
        </p:nvSpPr>
        <p:spPr>
          <a:xfrm>
            <a:off x="6262669" y="3012877"/>
            <a:ext cx="28575" cy="491133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40" name="Text 27"/>
          <p:cNvSpPr/>
          <p:nvPr/>
        </p:nvSpPr>
        <p:spPr>
          <a:xfrm>
            <a:off x="6348394" y="3098602"/>
            <a:ext cx="19240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Merge Commit</a:t>
            </a:r>
            <a:endParaRPr lang="en-US" sz="784" dirty="0"/>
          </a:p>
        </p:txBody>
      </p:sp>
      <p:sp>
        <p:nvSpPr>
          <p:cNvPr id="41" name="Text 28"/>
          <p:cNvSpPr/>
          <p:nvPr/>
        </p:nvSpPr>
        <p:spPr>
          <a:xfrm>
            <a:off x="6348394" y="3282553"/>
            <a:ext cx="1924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브랜치 히스토리 보존 필요 시 사용</a:t>
            </a:r>
            <a:endParaRPr lang="en-US" sz="674" dirty="0"/>
          </a:p>
        </p:txBody>
      </p:sp>
      <p:sp>
        <p:nvSpPr>
          <p:cNvPr id="42" name="Shape 29"/>
          <p:cNvSpPr/>
          <p:nvPr/>
        </p:nvSpPr>
        <p:spPr>
          <a:xfrm>
            <a:off x="6262669" y="3646884"/>
            <a:ext cx="2095491" cy="49113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Shape 30"/>
          <p:cNvSpPr/>
          <p:nvPr/>
        </p:nvSpPr>
        <p:spPr>
          <a:xfrm>
            <a:off x="6262669" y="3646884"/>
            <a:ext cx="28575" cy="491133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44" name="Text 31"/>
          <p:cNvSpPr/>
          <p:nvPr/>
        </p:nvSpPr>
        <p:spPr>
          <a:xfrm>
            <a:off x="6348394" y="3732609"/>
            <a:ext cx="19240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Rebase Merge</a:t>
            </a:r>
            <a:endParaRPr lang="en-US" sz="784" dirty="0"/>
          </a:p>
        </p:txBody>
      </p:sp>
      <p:sp>
        <p:nvSpPr>
          <p:cNvPr id="45" name="Text 32"/>
          <p:cNvSpPr/>
          <p:nvPr/>
        </p:nvSpPr>
        <p:spPr>
          <a:xfrm>
            <a:off x="6348394" y="3916561"/>
            <a:ext cx="1924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선형 히스토리 유지 (팀 합의 필요)</a:t>
            </a:r>
            <a:endParaRPr lang="en-US" sz="674" dirty="0"/>
          </a:p>
        </p:txBody>
      </p:sp>
      <p:sp>
        <p:nvSpPr>
          <p:cNvPr id="46" name="Shape 33"/>
          <p:cNvSpPr/>
          <p:nvPr/>
        </p:nvSpPr>
        <p:spPr>
          <a:xfrm>
            <a:off x="571500" y="4566642"/>
            <a:ext cx="8001000" cy="689372"/>
          </a:xfrm>
          <a:prstGeom prst="rect">
            <a:avLst/>
          </a:prstGeom>
          <a:solidFill>
            <a:srgbClr val="FFF5F5"/>
          </a:solidFill>
          <a:ln w="9144">
            <a:solidFill>
              <a:srgbClr val="FEB2B2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3" y="4789884"/>
            <a:ext cx="228600" cy="22860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157288" y="4709517"/>
            <a:ext cx="43825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53030"/>
                </a:solidFill>
              </a:rPr>
              <a:t>PR 실패 및 병합 불가 케이스</a:t>
            </a:r>
            <a:endParaRPr lang="en-US" sz="885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7288" y="4964906"/>
            <a:ext cx="71438" cy="114300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1228725" y="4943475"/>
            <a:ext cx="93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53030"/>
                </a:solidFill>
              </a:rPr>
              <a:t>CI 파이프라인 실패</a:t>
            </a:r>
            <a:endParaRPr lang="en-US" sz="834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9287" y="4964906"/>
            <a:ext cx="71438" cy="11430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2450725" y="4943475"/>
            <a:ext cx="14733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53030"/>
                </a:solidFill>
              </a:rPr>
              <a:t>Branch Protection 규칙 위반</a:t>
            </a:r>
            <a:endParaRPr lang="en-US" sz="834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38380" y="4964906"/>
            <a:ext cx="71438" cy="11430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4209817" y="4943475"/>
            <a:ext cx="13299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53030"/>
                </a:solidFill>
              </a:rPr>
              <a:t>코드 충돌 (Conflict) 미해결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GitHub Actions 기반 CI 파이프라인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Workflow 구조 및 자동화된 빌드/배포 프로세스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257300"/>
            <a:ext cx="3893344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468041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2266" y="1435894"/>
            <a:ext cx="10721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C5CE7"/>
                </a:solidFill>
              </a:rPr>
              <a:t>구조 (Structure)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750094" y="1835944"/>
            <a:ext cx="3536156" cy="43398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6"/>
          <p:cNvSpPr/>
          <p:nvPr/>
        </p:nvSpPr>
        <p:spPr>
          <a:xfrm>
            <a:off x="857250" y="1945779"/>
            <a:ext cx="214313" cy="214313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02" y="2002929"/>
            <a:ext cx="75009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8719" y="1907381"/>
            <a:ext cx="9344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Workflow (.yaml)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1178719" y="2075259"/>
            <a:ext cx="9344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자동화 프로세스 정의 파일</a:t>
            </a:r>
            <a:endParaRPr lang="en-US" sz="621" dirty="0"/>
          </a:p>
        </p:txBody>
      </p:sp>
      <p:sp>
        <p:nvSpPr>
          <p:cNvPr id="14" name="Shape 9"/>
          <p:cNvSpPr/>
          <p:nvPr/>
        </p:nvSpPr>
        <p:spPr>
          <a:xfrm>
            <a:off x="750094" y="2341364"/>
            <a:ext cx="3536156" cy="43398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0"/>
          <p:cNvSpPr/>
          <p:nvPr/>
        </p:nvSpPr>
        <p:spPr>
          <a:xfrm>
            <a:off x="857250" y="2451199"/>
            <a:ext cx="214313" cy="214313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08349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8719" y="2412802"/>
            <a:ext cx="9663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Job</a:t>
            </a:r>
            <a:endParaRPr lang="en-US" sz="683" dirty="0"/>
          </a:p>
        </p:txBody>
      </p:sp>
      <p:sp>
        <p:nvSpPr>
          <p:cNvPr id="18" name="Text 12"/>
          <p:cNvSpPr/>
          <p:nvPr/>
        </p:nvSpPr>
        <p:spPr>
          <a:xfrm>
            <a:off x="1178719" y="2580680"/>
            <a:ext cx="9663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독립된 실행 단위 (Runner)</a:t>
            </a:r>
            <a:endParaRPr lang="en-US" sz="621" dirty="0"/>
          </a:p>
        </p:txBody>
      </p:sp>
      <p:sp>
        <p:nvSpPr>
          <p:cNvPr id="19" name="Shape 13"/>
          <p:cNvSpPr/>
          <p:nvPr/>
        </p:nvSpPr>
        <p:spPr>
          <a:xfrm>
            <a:off x="750094" y="2846784"/>
            <a:ext cx="3536156" cy="43398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4"/>
          <p:cNvSpPr/>
          <p:nvPr/>
        </p:nvSpPr>
        <p:spPr>
          <a:xfrm>
            <a:off x="857250" y="2956620"/>
            <a:ext cx="214313" cy="214313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98" y="3013770"/>
            <a:ext cx="125016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8719" y="2918222"/>
            <a:ext cx="1185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Step</a:t>
            </a:r>
            <a:endParaRPr lang="en-US" sz="683" dirty="0"/>
          </a:p>
        </p:txBody>
      </p:sp>
      <p:sp>
        <p:nvSpPr>
          <p:cNvPr id="23" name="Text 16"/>
          <p:cNvSpPr/>
          <p:nvPr/>
        </p:nvSpPr>
        <p:spPr>
          <a:xfrm>
            <a:off x="1178719" y="3086100"/>
            <a:ext cx="1185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순차적 실행 명령 (Action/Script)</a:t>
            </a:r>
            <a:endParaRPr lang="en-US" sz="621" dirty="0"/>
          </a:p>
        </p:txBody>
      </p:sp>
      <p:sp>
        <p:nvSpPr>
          <p:cNvPr id="24" name="Shape 17"/>
          <p:cNvSpPr/>
          <p:nvPr/>
        </p:nvSpPr>
        <p:spPr>
          <a:xfrm>
            <a:off x="4679156" y="1257300"/>
            <a:ext cx="3893344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468041"/>
            <a:ext cx="107156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36344" y="1435894"/>
            <a:ext cx="8142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C5CE7"/>
                </a:solidFill>
              </a:rPr>
              <a:t>Trigger 전략</a:t>
            </a:r>
            <a:endParaRPr lang="en-US" sz="987" dirty="0"/>
          </a:p>
        </p:txBody>
      </p:sp>
      <p:sp>
        <p:nvSpPr>
          <p:cNvPr id="27" name="Text 19"/>
          <p:cNvSpPr/>
          <p:nvPr/>
        </p:nvSpPr>
        <p:spPr>
          <a:xfrm>
            <a:off x="4857750" y="1835944"/>
            <a:ext cx="1068214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Event</a:t>
            </a:r>
            <a:endParaRPr lang="en-US" sz="683" dirty="0"/>
          </a:p>
        </p:txBody>
      </p:sp>
      <p:sp>
        <p:nvSpPr>
          <p:cNvPr id="28" name="Text 20"/>
          <p:cNvSpPr/>
          <p:nvPr/>
        </p:nvSpPr>
        <p:spPr>
          <a:xfrm>
            <a:off x="5925964" y="1835944"/>
            <a:ext cx="1188486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Target Branch</a:t>
            </a:r>
            <a:endParaRPr lang="en-US" sz="683" dirty="0"/>
          </a:p>
        </p:txBody>
      </p:sp>
      <p:sp>
        <p:nvSpPr>
          <p:cNvPr id="29" name="Text 21"/>
          <p:cNvSpPr/>
          <p:nvPr/>
        </p:nvSpPr>
        <p:spPr>
          <a:xfrm>
            <a:off x="7114449" y="1835944"/>
            <a:ext cx="1279457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Action</a:t>
            </a:r>
            <a:endParaRPr lang="en-US" sz="683" dirty="0"/>
          </a:p>
        </p:txBody>
      </p:sp>
      <p:sp>
        <p:nvSpPr>
          <p:cNvPr id="30" name="Shape 22"/>
          <p:cNvSpPr/>
          <p:nvPr/>
        </p:nvSpPr>
        <p:spPr>
          <a:xfrm>
            <a:off x="4857750" y="2132409"/>
            <a:ext cx="629515" cy="173236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sp>
        <p:nvSpPr>
          <p:cNvPr id="31" name="Text 23"/>
          <p:cNvSpPr/>
          <p:nvPr/>
        </p:nvSpPr>
        <p:spPr>
          <a:xfrm>
            <a:off x="4857750" y="2132409"/>
            <a:ext cx="62951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C5CE7"/>
                </a:solidFill>
              </a:rPr>
              <a:t>pull_request</a:t>
            </a:r>
            <a:endParaRPr lang="en-US" sz="584" dirty="0"/>
          </a:p>
        </p:txBody>
      </p:sp>
      <p:sp>
        <p:nvSpPr>
          <p:cNvPr id="32" name="Text 24"/>
          <p:cNvSpPr/>
          <p:nvPr/>
        </p:nvSpPr>
        <p:spPr>
          <a:xfrm>
            <a:off x="5925964" y="2046684"/>
            <a:ext cx="1188486" cy="325041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D3436"/>
                </a:solidFill>
              </a:rPr>
              <a:t>dev, sit, sr</a:t>
            </a:r>
            <a:endParaRPr lang="en-US" sz="780" dirty="0"/>
          </a:p>
        </p:txBody>
      </p:sp>
      <p:sp>
        <p:nvSpPr>
          <p:cNvPr id="33" name="Text 25"/>
          <p:cNvSpPr/>
          <p:nvPr/>
        </p:nvSpPr>
        <p:spPr>
          <a:xfrm>
            <a:off x="7114449" y="2046684"/>
            <a:ext cx="1279457" cy="325041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D3436"/>
                </a:solidFill>
              </a:rPr>
              <a:t>Build &amp; Test</a:t>
            </a:r>
            <a:endParaRPr lang="en-US" sz="780" dirty="0"/>
          </a:p>
        </p:txBody>
      </p:sp>
      <p:sp>
        <p:nvSpPr>
          <p:cNvPr id="34" name="Shape 26"/>
          <p:cNvSpPr/>
          <p:nvPr/>
        </p:nvSpPr>
        <p:spPr>
          <a:xfrm>
            <a:off x="4857750" y="2457450"/>
            <a:ext cx="320046" cy="173236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4857750" y="2457450"/>
            <a:ext cx="32004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C5CE7"/>
                </a:solidFill>
              </a:rPr>
              <a:t>push</a:t>
            </a:r>
            <a:endParaRPr lang="en-US" sz="584" dirty="0"/>
          </a:p>
        </p:txBody>
      </p:sp>
      <p:sp>
        <p:nvSpPr>
          <p:cNvPr id="36" name="Text 28"/>
          <p:cNvSpPr/>
          <p:nvPr/>
        </p:nvSpPr>
        <p:spPr>
          <a:xfrm>
            <a:off x="5925964" y="2371725"/>
            <a:ext cx="1188486" cy="325041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D3436"/>
                </a:solidFill>
              </a:rPr>
              <a:t>main, dev</a:t>
            </a:r>
            <a:endParaRPr lang="en-US" sz="780" dirty="0"/>
          </a:p>
        </p:txBody>
      </p:sp>
      <p:sp>
        <p:nvSpPr>
          <p:cNvPr id="37" name="Text 29"/>
          <p:cNvSpPr/>
          <p:nvPr/>
        </p:nvSpPr>
        <p:spPr>
          <a:xfrm>
            <a:off x="7114449" y="2371725"/>
            <a:ext cx="1279457" cy="325041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D3436"/>
                </a:solidFill>
              </a:rPr>
              <a:t>Build &amp; Upload</a:t>
            </a:r>
            <a:endParaRPr lang="en-US" sz="780" dirty="0"/>
          </a:p>
        </p:txBody>
      </p:sp>
      <p:sp>
        <p:nvSpPr>
          <p:cNvPr id="38" name="Shape 30"/>
          <p:cNvSpPr/>
          <p:nvPr/>
        </p:nvSpPr>
        <p:spPr>
          <a:xfrm>
            <a:off x="4857750" y="2782491"/>
            <a:ext cx="416654" cy="173236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4857750" y="2782491"/>
            <a:ext cx="416654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C5CE7"/>
                </a:solidFill>
              </a:rPr>
              <a:t>release</a:t>
            </a:r>
            <a:endParaRPr lang="en-US" sz="584" dirty="0"/>
          </a:p>
        </p:txBody>
      </p:sp>
      <p:sp>
        <p:nvSpPr>
          <p:cNvPr id="40" name="Text 32"/>
          <p:cNvSpPr/>
          <p:nvPr/>
        </p:nvSpPr>
        <p:spPr>
          <a:xfrm>
            <a:off x="5925964" y="2696766"/>
            <a:ext cx="1188486" cy="325041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D3436"/>
                </a:solidFill>
              </a:rPr>
              <a:t>tags (v*)</a:t>
            </a:r>
            <a:endParaRPr lang="en-US" sz="780" dirty="0"/>
          </a:p>
        </p:txBody>
      </p:sp>
      <p:sp>
        <p:nvSpPr>
          <p:cNvPr id="41" name="Text 33"/>
          <p:cNvSpPr/>
          <p:nvPr/>
        </p:nvSpPr>
        <p:spPr>
          <a:xfrm>
            <a:off x="7114449" y="2696766"/>
            <a:ext cx="1279457" cy="325041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D3436"/>
                </a:solidFill>
              </a:rPr>
              <a:t>Release Build</a:t>
            </a:r>
            <a:endParaRPr lang="en-US" sz="780" dirty="0"/>
          </a:p>
        </p:txBody>
      </p:sp>
      <p:sp>
        <p:nvSpPr>
          <p:cNvPr id="42" name="Shape 34"/>
          <p:cNvSpPr/>
          <p:nvPr/>
        </p:nvSpPr>
        <p:spPr>
          <a:xfrm>
            <a:off x="571500" y="3028950"/>
            <a:ext cx="8001000" cy="206633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239691"/>
            <a:ext cx="142875" cy="14287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64406" y="3207544"/>
            <a:ext cx="194711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C5CE7"/>
                </a:solidFill>
              </a:rPr>
              <a:t>CI 실행 흐름 (Execution Flow)</a:t>
            </a:r>
            <a:endParaRPr lang="en-US" sz="987" dirty="0"/>
          </a:p>
        </p:txBody>
      </p:sp>
      <p:sp>
        <p:nvSpPr>
          <p:cNvPr id="45" name="Shape 36"/>
          <p:cNvSpPr/>
          <p:nvPr/>
        </p:nvSpPr>
        <p:spPr>
          <a:xfrm>
            <a:off x="1178719" y="3607594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7306" y="3736181"/>
            <a:ext cx="171450" cy="17145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156534" y="4107656"/>
            <a:ext cx="4729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Checkout</a:t>
            </a:r>
            <a:endParaRPr lang="en-US" sz="683" dirty="0"/>
          </a:p>
        </p:txBody>
      </p:sp>
      <p:sp>
        <p:nvSpPr>
          <p:cNvPr id="48" name="Text 38"/>
          <p:cNvSpPr/>
          <p:nvPr/>
        </p:nvSpPr>
        <p:spPr>
          <a:xfrm>
            <a:off x="1050382" y="4314825"/>
            <a:ext cx="6852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actions/checkout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소스 코드 내려받기</a:t>
            </a:r>
            <a:endParaRPr lang="en-US" sz="621" dirty="0"/>
          </a:p>
        </p:txBody>
      </p:sp>
      <p:sp>
        <p:nvSpPr>
          <p:cNvPr id="49" name="Shape 39"/>
          <p:cNvSpPr/>
          <p:nvPr/>
        </p:nvSpPr>
        <p:spPr>
          <a:xfrm>
            <a:off x="1821656" y="3893344"/>
            <a:ext cx="732234" cy="21431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50" name="Shape 40"/>
          <p:cNvSpPr/>
          <p:nvPr/>
        </p:nvSpPr>
        <p:spPr>
          <a:xfrm>
            <a:off x="2768203" y="3607594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8222" y="3736181"/>
            <a:ext cx="128588" cy="17145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2720764" y="4107656"/>
            <a:ext cx="523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Setup Java</a:t>
            </a:r>
            <a:endParaRPr lang="en-US" sz="683" dirty="0"/>
          </a:p>
        </p:txBody>
      </p:sp>
      <p:sp>
        <p:nvSpPr>
          <p:cNvPr id="53" name="Text 42"/>
          <p:cNvSpPr/>
          <p:nvPr/>
        </p:nvSpPr>
        <p:spPr>
          <a:xfrm>
            <a:off x="2689929" y="4314825"/>
            <a:ext cx="58517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setup-java@v3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JDK 설정 &amp; 캐싱</a:t>
            </a:r>
            <a:endParaRPr lang="en-US" sz="621" dirty="0"/>
          </a:p>
        </p:txBody>
      </p:sp>
      <p:sp>
        <p:nvSpPr>
          <p:cNvPr id="54" name="Shape 43"/>
          <p:cNvSpPr/>
          <p:nvPr/>
        </p:nvSpPr>
        <p:spPr>
          <a:xfrm>
            <a:off x="3411141" y="3893344"/>
            <a:ext cx="732234" cy="21431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55" name="Shape 44"/>
          <p:cNvSpPr/>
          <p:nvPr/>
        </p:nvSpPr>
        <p:spPr>
          <a:xfrm>
            <a:off x="4357688" y="3607594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5559" y="3736181"/>
            <a:ext cx="192881" cy="17145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278297" y="4107656"/>
            <a:ext cx="5873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Build &amp; Test</a:t>
            </a:r>
            <a:endParaRPr lang="en-US" sz="683" dirty="0"/>
          </a:p>
        </p:txBody>
      </p:sp>
      <p:sp>
        <p:nvSpPr>
          <p:cNvPr id="58" name="Text 46"/>
          <p:cNvSpPr/>
          <p:nvPr/>
        </p:nvSpPr>
        <p:spPr>
          <a:xfrm>
            <a:off x="4243694" y="4314825"/>
            <a:ext cx="6565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mvn clean verify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유닛 테스트 수행</a:t>
            </a:r>
            <a:endParaRPr lang="en-US" sz="621" dirty="0"/>
          </a:p>
        </p:txBody>
      </p:sp>
      <p:sp>
        <p:nvSpPr>
          <p:cNvPr id="59" name="Shape 47"/>
          <p:cNvSpPr/>
          <p:nvPr/>
        </p:nvSpPr>
        <p:spPr>
          <a:xfrm>
            <a:off x="5000625" y="3893344"/>
            <a:ext cx="732234" cy="21431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60" name="Shape 48"/>
          <p:cNvSpPr/>
          <p:nvPr/>
        </p:nvSpPr>
        <p:spPr>
          <a:xfrm>
            <a:off x="5947172" y="3607594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4328" y="3736181"/>
            <a:ext cx="214313" cy="17145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5815124" y="4107656"/>
            <a:ext cx="6926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Nexus Upload</a:t>
            </a:r>
            <a:endParaRPr lang="en-US" sz="683" dirty="0"/>
          </a:p>
        </p:txBody>
      </p:sp>
      <p:sp>
        <p:nvSpPr>
          <p:cNvPr id="63" name="Text 50"/>
          <p:cNvSpPr/>
          <p:nvPr/>
        </p:nvSpPr>
        <p:spPr>
          <a:xfrm>
            <a:off x="5924987" y="4314825"/>
            <a:ext cx="47296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mvn deploy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Artifact 저장</a:t>
            </a:r>
            <a:endParaRPr lang="en-US" sz="621" dirty="0"/>
          </a:p>
        </p:txBody>
      </p:sp>
      <p:sp>
        <p:nvSpPr>
          <p:cNvPr id="64" name="Shape 51"/>
          <p:cNvSpPr/>
          <p:nvPr/>
        </p:nvSpPr>
        <p:spPr>
          <a:xfrm>
            <a:off x="6590109" y="3893344"/>
            <a:ext cx="732234" cy="21431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65" name="Shape 52"/>
          <p:cNvSpPr/>
          <p:nvPr/>
        </p:nvSpPr>
        <p:spPr>
          <a:xfrm>
            <a:off x="7536656" y="3607594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6C5CE7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5244" y="3736181"/>
            <a:ext cx="171450" cy="17145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417864" y="4107656"/>
            <a:ext cx="6662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436"/>
                </a:solidFill>
              </a:rPr>
              <a:t>Security Scan</a:t>
            </a:r>
            <a:endParaRPr lang="en-US" sz="683" dirty="0"/>
          </a:p>
        </p:txBody>
      </p:sp>
      <p:sp>
        <p:nvSpPr>
          <p:cNvPr id="68" name="Text 54"/>
          <p:cNvSpPr/>
          <p:nvPr/>
        </p:nvSpPr>
        <p:spPr>
          <a:xfrm>
            <a:off x="7504761" y="4314825"/>
            <a:ext cx="4924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Trivy / GHAS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E72"/>
                </a:solidFill>
              </a:rPr>
              <a:t>취약점 점검</a:t>
            </a:r>
            <a:endParaRPr lang="en-US" sz="621" dirty="0"/>
          </a:p>
        </p:txBody>
      </p:sp>
      <p:sp>
        <p:nvSpPr>
          <p:cNvPr id="69" name="Shape 55"/>
          <p:cNvSpPr/>
          <p:nvPr/>
        </p:nvSpPr>
        <p:spPr>
          <a:xfrm>
            <a:off x="750094" y="4629150"/>
            <a:ext cx="7643813" cy="287536"/>
          </a:xfrm>
          <a:prstGeom prst="rect">
            <a:avLst/>
          </a:prstGeom>
          <a:solidFill>
            <a:srgbClr val="FFF5F5"/>
          </a:solidFill>
          <a:ln/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2969" y="4722912"/>
            <a:ext cx="100013" cy="100013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1100138" y="4700588"/>
            <a:ext cx="8426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0392B"/>
                </a:solidFill>
              </a:rPr>
              <a:t>실패 시 확인 포인트:</a:t>
            </a:r>
            <a:endParaRPr lang="en-US" sz="683" dirty="0"/>
          </a:p>
        </p:txBody>
      </p:sp>
      <p:sp>
        <p:nvSpPr>
          <p:cNvPr id="72" name="Text 57"/>
          <p:cNvSpPr/>
          <p:nvPr/>
        </p:nvSpPr>
        <p:spPr>
          <a:xfrm>
            <a:off x="2049921" y="4700588"/>
            <a:ext cx="71621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Action 로그 분석</a:t>
            </a:r>
            <a:endParaRPr lang="en-US" sz="727" dirty="0"/>
          </a:p>
        </p:txBody>
      </p:sp>
      <p:sp>
        <p:nvSpPr>
          <p:cNvPr id="73" name="Text 58"/>
          <p:cNvSpPr/>
          <p:nvPr/>
        </p:nvSpPr>
        <p:spPr>
          <a:xfrm>
            <a:off x="2873294" y="4705052"/>
            <a:ext cx="376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•</a:t>
            </a:r>
            <a:endParaRPr lang="en-US" sz="727" dirty="0"/>
          </a:p>
        </p:txBody>
      </p:sp>
      <p:sp>
        <p:nvSpPr>
          <p:cNvPr id="74" name="Text 59"/>
          <p:cNvSpPr/>
          <p:nvPr/>
        </p:nvSpPr>
        <p:spPr>
          <a:xfrm>
            <a:off x="3018067" y="4700588"/>
            <a:ext cx="10433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GitHub Secret 환경변수</a:t>
            </a:r>
            <a:endParaRPr lang="en-US" sz="727" dirty="0"/>
          </a:p>
        </p:txBody>
      </p:sp>
      <p:sp>
        <p:nvSpPr>
          <p:cNvPr id="75" name="Text 60"/>
          <p:cNvSpPr/>
          <p:nvPr/>
        </p:nvSpPr>
        <p:spPr>
          <a:xfrm>
            <a:off x="4168573" y="4705052"/>
            <a:ext cx="376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•</a:t>
            </a:r>
            <a:endParaRPr lang="en-US" sz="727" dirty="0"/>
          </a:p>
        </p:txBody>
      </p:sp>
      <p:sp>
        <p:nvSpPr>
          <p:cNvPr id="76" name="Text 61"/>
          <p:cNvSpPr/>
          <p:nvPr/>
        </p:nvSpPr>
        <p:spPr>
          <a:xfrm>
            <a:off x="4313346" y="4700588"/>
            <a:ext cx="71309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0392B"/>
                </a:solidFill>
              </a:rPr>
              <a:t>Nexus 접근 권한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Jenkins 기반 CD 및 보안 스캔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안전한 배포 프로세스와 자동화된 보안 검증 체계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3857625" cy="36236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14500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4413" y="1685925"/>
            <a:ext cx="15040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Jenkins CD Pipeline</a:t>
            </a:r>
            <a:endParaRPr lang="en-US" sz="1090" dirty="0"/>
          </a:p>
        </p:txBody>
      </p:sp>
      <p:sp>
        <p:nvSpPr>
          <p:cNvPr id="9" name="Shape 5"/>
          <p:cNvSpPr/>
          <p:nvPr/>
        </p:nvSpPr>
        <p:spPr>
          <a:xfrm>
            <a:off x="785813" y="2200275"/>
            <a:ext cx="3429000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6"/>
          <p:cNvSpPr/>
          <p:nvPr/>
        </p:nvSpPr>
        <p:spPr>
          <a:xfrm>
            <a:off x="892969" y="2307431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16" y="2400300"/>
            <a:ext cx="166092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57313" y="2321719"/>
            <a:ext cx="142537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GitHub Actions (CI 완료)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1357313" y="2514600"/>
            <a:ext cx="14253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Artifact 업로드 후 Webhook 트리거</a:t>
            </a:r>
            <a:endParaRPr lang="en-US" sz="674" dirty="0"/>
          </a:p>
        </p:txBody>
      </p:sp>
      <p:sp>
        <p:nvSpPr>
          <p:cNvPr id="14" name="Shape 9"/>
          <p:cNvSpPr/>
          <p:nvPr/>
        </p:nvSpPr>
        <p:spPr>
          <a:xfrm>
            <a:off x="785813" y="2914650"/>
            <a:ext cx="3429000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0"/>
          <p:cNvSpPr/>
          <p:nvPr/>
        </p:nvSpPr>
        <p:spPr>
          <a:xfrm>
            <a:off x="892969" y="3021806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06" y="3114675"/>
            <a:ext cx="214313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7313" y="3036094"/>
            <a:ext cx="13758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Jenkins Job 실행</a:t>
            </a:r>
            <a:endParaRPr lang="en-US" sz="784" dirty="0"/>
          </a:p>
        </p:txBody>
      </p:sp>
      <p:sp>
        <p:nvSpPr>
          <p:cNvPr id="18" name="Text 12"/>
          <p:cNvSpPr/>
          <p:nvPr/>
        </p:nvSpPr>
        <p:spPr>
          <a:xfrm>
            <a:off x="1357313" y="3228975"/>
            <a:ext cx="13758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파라미터: 환경(Env), 버전(Version)</a:t>
            </a:r>
            <a:endParaRPr lang="en-US" sz="674" dirty="0"/>
          </a:p>
        </p:txBody>
      </p:sp>
      <p:sp>
        <p:nvSpPr>
          <p:cNvPr id="19" name="Shape 13"/>
          <p:cNvSpPr/>
          <p:nvPr/>
        </p:nvSpPr>
        <p:spPr>
          <a:xfrm>
            <a:off x="785813" y="3629025"/>
            <a:ext cx="3429000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4"/>
          <p:cNvSpPr/>
          <p:nvPr/>
        </p:nvSpPr>
        <p:spPr>
          <a:xfrm>
            <a:off x="892969" y="3736181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06" y="3829050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57313" y="3750469"/>
            <a:ext cx="14549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환경별 배포 (Deploy)</a:t>
            </a:r>
            <a:endParaRPr lang="en-US" sz="784" dirty="0"/>
          </a:p>
        </p:txBody>
      </p:sp>
      <p:sp>
        <p:nvSpPr>
          <p:cNvPr id="23" name="Text 16"/>
          <p:cNvSpPr/>
          <p:nvPr/>
        </p:nvSpPr>
        <p:spPr>
          <a:xfrm>
            <a:off x="1357313" y="3943350"/>
            <a:ext cx="14549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Nexus에서 Artifact 다운로드 및 배포</a:t>
            </a:r>
            <a:endParaRPr lang="en-US" sz="674" dirty="0"/>
          </a:p>
        </p:txBody>
      </p:sp>
      <p:sp>
        <p:nvSpPr>
          <p:cNvPr id="24" name="Shape 17"/>
          <p:cNvSpPr/>
          <p:nvPr/>
        </p:nvSpPr>
        <p:spPr>
          <a:xfrm>
            <a:off x="785813" y="4200525"/>
            <a:ext cx="3429000" cy="680442"/>
          </a:xfrm>
          <a:prstGeom prst="rect">
            <a:avLst/>
          </a:prstGeom>
          <a:solidFill>
            <a:srgbClr val="FFF5F5"/>
          </a:solidFill>
          <a:ln w="9144">
            <a:solidFill>
              <a:srgbClr val="FEB2B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69" y="4330005"/>
            <a:ext cx="100013" cy="1000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0131" y="4307681"/>
            <a:ext cx="81410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53030"/>
                </a:solidFill>
              </a:rPr>
              <a:t>배포 실패 대응 전략</a:t>
            </a:r>
            <a:endParaRPr lang="en-US" sz="683" dirty="0"/>
          </a:p>
        </p:txBody>
      </p:sp>
      <p:sp>
        <p:nvSpPr>
          <p:cNvPr id="27" name="Text 19"/>
          <p:cNvSpPr/>
          <p:nvPr/>
        </p:nvSpPr>
        <p:spPr>
          <a:xfrm>
            <a:off x="892969" y="4488061"/>
            <a:ext cx="32146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3030"/>
                </a:solidFill>
              </a:rPr>
              <a:t>Health Check 실패 시 자동 롤백 (이전 버전 재배포)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303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3030"/>
                </a:solidFill>
              </a:rPr>
              <a:t> 에러율 임계치 초과 시 즉시 중단</a:t>
            </a:r>
            <a:endParaRPr lang="en-US" sz="674" dirty="0"/>
          </a:p>
        </p:txBody>
      </p:sp>
      <p:sp>
        <p:nvSpPr>
          <p:cNvPr id="28" name="Shape 20"/>
          <p:cNvSpPr/>
          <p:nvPr/>
        </p:nvSpPr>
        <p:spPr>
          <a:xfrm>
            <a:off x="4714875" y="1471613"/>
            <a:ext cx="3857625" cy="36093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720751"/>
            <a:ext cx="157163" cy="15716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57788" y="1685925"/>
            <a:ext cx="14380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436"/>
                </a:solidFill>
              </a:rPr>
              <a:t>보안 스캔 &amp; 품질 관리</a:t>
            </a:r>
            <a:endParaRPr lang="en-US" sz="1090" dirty="0"/>
          </a:p>
        </p:txBody>
      </p:sp>
      <p:sp>
        <p:nvSpPr>
          <p:cNvPr id="31" name="Shape 22"/>
          <p:cNvSpPr/>
          <p:nvPr/>
        </p:nvSpPr>
        <p:spPr>
          <a:xfrm>
            <a:off x="4929188" y="2212777"/>
            <a:ext cx="3429000" cy="8786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Shape 23"/>
          <p:cNvSpPr/>
          <p:nvPr/>
        </p:nvSpPr>
        <p:spPr>
          <a:xfrm>
            <a:off x="5072063" y="2355652"/>
            <a:ext cx="428625" cy="428625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2613" y="2469952"/>
            <a:ext cx="187523" cy="2000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643563" y="2355652"/>
            <a:ext cx="17815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GHAS (Advanced Security)</a:t>
            </a:r>
            <a:endParaRPr lang="en-US" sz="885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3563" y="2617291"/>
            <a:ext cx="85725" cy="857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786438" y="2592288"/>
            <a:ext cx="73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Code Scanning</a:t>
            </a:r>
            <a:endParaRPr lang="en-US" sz="683" dirty="0"/>
          </a:p>
        </p:txBody>
      </p:sp>
      <p:sp>
        <p:nvSpPr>
          <p:cNvPr id="37" name="Text 26"/>
          <p:cNvSpPr/>
          <p:nvPr/>
        </p:nvSpPr>
        <p:spPr>
          <a:xfrm>
            <a:off x="6575487" y="2587823"/>
            <a:ext cx="74889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: 코드 취약점 분석</a:t>
            </a:r>
            <a:endParaRPr lang="en-US" sz="727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3563" y="2797671"/>
            <a:ext cx="85725" cy="8572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786438" y="2772668"/>
            <a:ext cx="7954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Secret Scanning</a:t>
            </a:r>
            <a:endParaRPr lang="en-US" sz="683" dirty="0"/>
          </a:p>
        </p:txBody>
      </p:sp>
      <p:sp>
        <p:nvSpPr>
          <p:cNvPr id="40" name="Text 28"/>
          <p:cNvSpPr/>
          <p:nvPr/>
        </p:nvSpPr>
        <p:spPr>
          <a:xfrm>
            <a:off x="6638999" y="2768203"/>
            <a:ext cx="78611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: 키/토큰 노출 탐지</a:t>
            </a:r>
            <a:endParaRPr lang="en-US" sz="727" dirty="0"/>
          </a:p>
        </p:txBody>
      </p:sp>
      <p:sp>
        <p:nvSpPr>
          <p:cNvPr id="41" name="Shape 29"/>
          <p:cNvSpPr/>
          <p:nvPr/>
        </p:nvSpPr>
        <p:spPr>
          <a:xfrm>
            <a:off x="4929188" y="3234333"/>
            <a:ext cx="3429000" cy="8929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Shape 30"/>
          <p:cNvSpPr/>
          <p:nvPr/>
        </p:nvSpPr>
        <p:spPr>
          <a:xfrm>
            <a:off x="5072063" y="3377208"/>
            <a:ext cx="428625" cy="428625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6363" y="3491508"/>
            <a:ext cx="200025" cy="20002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643563" y="3377208"/>
            <a:ext cx="189128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Trivy 진단</a:t>
            </a:r>
            <a:endParaRPr lang="en-US" sz="885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3563" y="3653135"/>
            <a:ext cx="85725" cy="85725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786438" y="3628132"/>
            <a:ext cx="8763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Dependency Scan</a:t>
            </a:r>
            <a:endParaRPr lang="en-US" sz="683" dirty="0"/>
          </a:p>
        </p:txBody>
      </p:sp>
      <p:sp>
        <p:nvSpPr>
          <p:cNvPr id="47" name="Text 33"/>
          <p:cNvSpPr/>
          <p:nvPr/>
        </p:nvSpPr>
        <p:spPr>
          <a:xfrm>
            <a:off x="6719925" y="3623667"/>
            <a:ext cx="81491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: 라이브러리 취약점</a:t>
            </a:r>
            <a:endParaRPr lang="en-US" sz="727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3563" y="3833515"/>
            <a:ext cx="85725" cy="85725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786438" y="3808512"/>
            <a:ext cx="578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E72"/>
                </a:solidFill>
              </a:rPr>
              <a:t>Image Scan</a:t>
            </a:r>
            <a:endParaRPr lang="en-US" sz="683" dirty="0"/>
          </a:p>
        </p:txBody>
      </p:sp>
      <p:sp>
        <p:nvSpPr>
          <p:cNvPr id="50" name="Text 35"/>
          <p:cNvSpPr/>
          <p:nvPr/>
        </p:nvSpPr>
        <p:spPr>
          <a:xfrm>
            <a:off x="6422175" y="3804047"/>
            <a:ext cx="93292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6E72"/>
                </a:solidFill>
              </a:rPr>
              <a:t>: 컨테이너 이미지 결함</a:t>
            </a:r>
            <a:endParaRPr lang="en-US" sz="727" dirty="0"/>
          </a:p>
        </p:txBody>
      </p:sp>
      <p:sp>
        <p:nvSpPr>
          <p:cNvPr id="51" name="Shape 36"/>
          <p:cNvSpPr/>
          <p:nvPr/>
        </p:nvSpPr>
        <p:spPr>
          <a:xfrm>
            <a:off x="4929188" y="4407694"/>
            <a:ext cx="3429000" cy="458986"/>
          </a:xfrm>
          <a:prstGeom prst="rect">
            <a:avLst/>
          </a:prstGeom>
          <a:solidFill>
            <a:srgbClr val="2D3436"/>
          </a:solidFill>
          <a:ln/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2063" y="4591645"/>
            <a:ext cx="100013" cy="100013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5243513" y="4573786"/>
            <a:ext cx="13220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Critical / High 취약점 발견 시</a:t>
            </a:r>
            <a:endParaRPr lang="en-US" sz="683" dirty="0"/>
          </a:p>
        </p:txBody>
      </p:sp>
      <p:sp>
        <p:nvSpPr>
          <p:cNvPr id="54" name="Shape 38"/>
          <p:cNvSpPr/>
          <p:nvPr/>
        </p:nvSpPr>
        <p:spPr>
          <a:xfrm>
            <a:off x="7567659" y="4550569"/>
            <a:ext cx="647653" cy="17323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5" name="Text 39"/>
          <p:cNvSpPr/>
          <p:nvPr/>
        </p:nvSpPr>
        <p:spPr>
          <a:xfrm>
            <a:off x="7567659" y="4550569"/>
            <a:ext cx="647653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BUILD FAIL</a:t>
            </a:r>
            <a:endParaRPr lang="en-US" sz="5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운영 및 트러블슈팅 가이드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체계적인 체크리스트와 로그 관리로 CI/CD 안정성 유지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00175"/>
            <a:ext cx="8001000" cy="5643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10916"/>
            <a:ext cx="10715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4406" y="1578769"/>
            <a:ext cx="11410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C5CE7"/>
                </a:solidFill>
              </a:rPr>
              <a:t>CI 실패 체크리스트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2728522" y="1543050"/>
            <a:ext cx="1215247" cy="2786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822" y="1625203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28559" y="1600200"/>
            <a:ext cx="8009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3436"/>
                </a:solidFill>
              </a:rPr>
              <a:t>Token 만료 확인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4158081" y="1543050"/>
            <a:ext cx="1229311" cy="2786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381" y="1625203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58119" y="1600200"/>
            <a:ext cx="8149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3436"/>
                </a:solidFill>
              </a:rPr>
              <a:t>Nexus 권한 점검</a:t>
            </a:r>
            <a:endParaRPr lang="en-US" sz="834" dirty="0"/>
          </a:p>
        </p:txBody>
      </p:sp>
      <p:sp>
        <p:nvSpPr>
          <p:cNvPr id="15" name="Shape 9"/>
          <p:cNvSpPr/>
          <p:nvPr/>
        </p:nvSpPr>
        <p:spPr>
          <a:xfrm>
            <a:off x="5601705" y="1543050"/>
            <a:ext cx="1227134" cy="2786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005" y="1625203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01742" y="1600200"/>
            <a:ext cx="8127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3436"/>
                </a:solidFill>
              </a:rPr>
              <a:t>Secret 설정 확인</a:t>
            </a:r>
            <a:endParaRPr lang="en-US" sz="834" dirty="0"/>
          </a:p>
        </p:txBody>
      </p:sp>
      <p:sp>
        <p:nvSpPr>
          <p:cNvPr id="18" name="Shape 11"/>
          <p:cNvSpPr/>
          <p:nvPr/>
        </p:nvSpPr>
        <p:spPr>
          <a:xfrm>
            <a:off x="7043151" y="1543050"/>
            <a:ext cx="1315036" cy="2786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7451" y="1625203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43189" y="1600200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3436"/>
                </a:solidFill>
              </a:rPr>
              <a:t>의존성 캐시 초기화</a:t>
            </a:r>
            <a:endParaRPr lang="en-US" sz="834" dirty="0"/>
          </a:p>
        </p:txBody>
      </p:sp>
      <p:sp>
        <p:nvSpPr>
          <p:cNvPr id="21" name="Shape 13"/>
          <p:cNvSpPr/>
          <p:nvPr/>
        </p:nvSpPr>
        <p:spPr>
          <a:xfrm>
            <a:off x="571500" y="2178844"/>
            <a:ext cx="2547947" cy="1860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4"/>
          <p:cNvSpPr/>
          <p:nvPr/>
        </p:nvSpPr>
        <p:spPr>
          <a:xfrm>
            <a:off x="571500" y="2178844"/>
            <a:ext cx="2547947" cy="42863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2387798"/>
            <a:ext cx="160734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2266" y="2357438"/>
            <a:ext cx="1059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Nexus 업로드 실패</a:t>
            </a:r>
            <a:endParaRPr lang="en-US" sz="885" dirty="0"/>
          </a:p>
        </p:txBody>
      </p:sp>
      <p:sp>
        <p:nvSpPr>
          <p:cNvPr id="25" name="Text 16"/>
          <p:cNvSpPr/>
          <p:nvPr/>
        </p:nvSpPr>
        <p:spPr>
          <a:xfrm>
            <a:off x="750094" y="2653903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36E72"/>
                </a:solidFill>
              </a:rPr>
              <a:t>Symptoms</a:t>
            </a:r>
            <a:endParaRPr lang="en-US" sz="584" dirty="0"/>
          </a:p>
        </p:txBody>
      </p:sp>
      <p:sp>
        <p:nvSpPr>
          <p:cNvPr id="26" name="Shape 17"/>
          <p:cNvSpPr/>
          <p:nvPr/>
        </p:nvSpPr>
        <p:spPr>
          <a:xfrm>
            <a:off x="750094" y="2798564"/>
            <a:ext cx="2190759" cy="38576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" name="Shape 18"/>
          <p:cNvSpPr/>
          <p:nvPr/>
        </p:nvSpPr>
        <p:spPr>
          <a:xfrm>
            <a:off x="750094" y="2798564"/>
            <a:ext cx="21431" cy="38576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19"/>
          <p:cNvSpPr/>
          <p:nvPr/>
        </p:nvSpPr>
        <p:spPr>
          <a:xfrm>
            <a:off x="750094" y="2798564"/>
            <a:ext cx="2190759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401 Unauthorized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403 Forbidden</a:t>
            </a:r>
            <a:endParaRPr lang="en-US" sz="727" dirty="0"/>
          </a:p>
        </p:txBody>
      </p:sp>
      <p:sp>
        <p:nvSpPr>
          <p:cNvPr id="29" name="Text 20"/>
          <p:cNvSpPr/>
          <p:nvPr/>
        </p:nvSpPr>
        <p:spPr>
          <a:xfrm>
            <a:off x="750094" y="3270052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36E72"/>
                </a:solidFill>
              </a:rPr>
              <a:t>Solution</a:t>
            </a:r>
            <a:endParaRPr lang="en-US" sz="584" dirty="0"/>
          </a:p>
        </p:txBody>
      </p:sp>
      <p:sp>
        <p:nvSpPr>
          <p:cNvPr id="30" name="Shape 21"/>
          <p:cNvSpPr/>
          <p:nvPr/>
        </p:nvSpPr>
        <p:spPr>
          <a:xfrm>
            <a:off x="750094" y="3414713"/>
            <a:ext cx="2190759" cy="40362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1" name="Shape 22"/>
          <p:cNvSpPr/>
          <p:nvPr/>
        </p:nvSpPr>
        <p:spPr>
          <a:xfrm>
            <a:off x="750094" y="3414713"/>
            <a:ext cx="21431" cy="40362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2" name="Text 23"/>
          <p:cNvSpPr/>
          <p:nvPr/>
        </p:nvSpPr>
        <p:spPr>
          <a:xfrm>
            <a:off x="750094" y="3414713"/>
            <a:ext cx="2190759" cy="4036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Token 만료 여부 확인 및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Repository 권한 재설정</a:t>
            </a:r>
            <a:endParaRPr lang="en-US" sz="727" dirty="0"/>
          </a:p>
        </p:txBody>
      </p:sp>
      <p:sp>
        <p:nvSpPr>
          <p:cNvPr id="33" name="Shape 24"/>
          <p:cNvSpPr/>
          <p:nvPr/>
        </p:nvSpPr>
        <p:spPr>
          <a:xfrm>
            <a:off x="3298041" y="2178844"/>
            <a:ext cx="2547947" cy="1860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5"/>
          <p:cNvSpPr/>
          <p:nvPr/>
        </p:nvSpPr>
        <p:spPr>
          <a:xfrm>
            <a:off x="3298041" y="2178844"/>
            <a:ext cx="2547947" cy="42863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34" y="2387798"/>
            <a:ext cx="112514" cy="1285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60586" y="2357438"/>
            <a:ext cx="70569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PR 병합 불가</a:t>
            </a:r>
            <a:endParaRPr lang="en-US" sz="885" dirty="0"/>
          </a:p>
        </p:txBody>
      </p:sp>
      <p:sp>
        <p:nvSpPr>
          <p:cNvPr id="37" name="Text 27"/>
          <p:cNvSpPr/>
          <p:nvPr/>
        </p:nvSpPr>
        <p:spPr>
          <a:xfrm>
            <a:off x="3476634" y="2653903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36E72"/>
                </a:solidFill>
              </a:rPr>
              <a:t>Symptoms</a:t>
            </a:r>
            <a:endParaRPr lang="en-US" sz="584" dirty="0"/>
          </a:p>
        </p:txBody>
      </p:sp>
      <p:sp>
        <p:nvSpPr>
          <p:cNvPr id="38" name="Shape 28"/>
          <p:cNvSpPr/>
          <p:nvPr/>
        </p:nvSpPr>
        <p:spPr>
          <a:xfrm>
            <a:off x="3476634" y="2798564"/>
            <a:ext cx="2190759" cy="38576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9" name="Shape 29"/>
          <p:cNvSpPr/>
          <p:nvPr/>
        </p:nvSpPr>
        <p:spPr>
          <a:xfrm>
            <a:off x="3476634" y="2798564"/>
            <a:ext cx="21431" cy="38576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0"/>
          <p:cNvSpPr/>
          <p:nvPr/>
        </p:nvSpPr>
        <p:spPr>
          <a:xfrm>
            <a:off x="3476634" y="2798564"/>
            <a:ext cx="2190759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Merge Button Disabled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Checks Failed</a:t>
            </a:r>
            <a:endParaRPr lang="en-US" sz="727" dirty="0"/>
          </a:p>
        </p:txBody>
      </p:sp>
      <p:sp>
        <p:nvSpPr>
          <p:cNvPr id="41" name="Text 31"/>
          <p:cNvSpPr/>
          <p:nvPr/>
        </p:nvSpPr>
        <p:spPr>
          <a:xfrm>
            <a:off x="3476634" y="3270052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36E72"/>
                </a:solidFill>
              </a:rPr>
              <a:t>Solution</a:t>
            </a:r>
            <a:endParaRPr lang="en-US" sz="584" dirty="0"/>
          </a:p>
        </p:txBody>
      </p:sp>
      <p:sp>
        <p:nvSpPr>
          <p:cNvPr id="42" name="Shape 32"/>
          <p:cNvSpPr/>
          <p:nvPr/>
        </p:nvSpPr>
        <p:spPr>
          <a:xfrm>
            <a:off x="3476634" y="3414713"/>
            <a:ext cx="2190759" cy="40362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3" name="Shape 33"/>
          <p:cNvSpPr/>
          <p:nvPr/>
        </p:nvSpPr>
        <p:spPr>
          <a:xfrm>
            <a:off x="3476634" y="3414713"/>
            <a:ext cx="21431" cy="40362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4" name="Text 34"/>
          <p:cNvSpPr/>
          <p:nvPr/>
        </p:nvSpPr>
        <p:spPr>
          <a:xfrm>
            <a:off x="3476634" y="3414713"/>
            <a:ext cx="2190759" cy="4036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CI 로그 확인, 리뷰어 승인 요청,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Branch Protection 준수</a:t>
            </a:r>
            <a:endParaRPr lang="en-US" sz="727" dirty="0"/>
          </a:p>
        </p:txBody>
      </p:sp>
      <p:sp>
        <p:nvSpPr>
          <p:cNvPr id="45" name="Shape 35"/>
          <p:cNvSpPr/>
          <p:nvPr/>
        </p:nvSpPr>
        <p:spPr>
          <a:xfrm>
            <a:off x="6024581" y="2178844"/>
            <a:ext cx="2547947" cy="1860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6"/>
          <p:cNvSpPr/>
          <p:nvPr/>
        </p:nvSpPr>
        <p:spPr>
          <a:xfrm>
            <a:off x="6024581" y="2178844"/>
            <a:ext cx="2547947" cy="42863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3175" y="2387798"/>
            <a:ext cx="144661" cy="1285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419273" y="2357438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436"/>
                </a:solidFill>
              </a:rPr>
              <a:t>빌드 실패</a:t>
            </a:r>
            <a:endParaRPr lang="en-US" sz="885" dirty="0"/>
          </a:p>
        </p:txBody>
      </p:sp>
      <p:sp>
        <p:nvSpPr>
          <p:cNvPr id="49" name="Text 38"/>
          <p:cNvSpPr/>
          <p:nvPr/>
        </p:nvSpPr>
        <p:spPr>
          <a:xfrm>
            <a:off x="6203175" y="2653903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36E72"/>
                </a:solidFill>
              </a:rPr>
              <a:t>Symptoms</a:t>
            </a:r>
            <a:endParaRPr lang="en-US" sz="584" dirty="0"/>
          </a:p>
        </p:txBody>
      </p:sp>
      <p:sp>
        <p:nvSpPr>
          <p:cNvPr id="50" name="Shape 39"/>
          <p:cNvSpPr/>
          <p:nvPr/>
        </p:nvSpPr>
        <p:spPr>
          <a:xfrm>
            <a:off x="6203175" y="2798564"/>
            <a:ext cx="2190759" cy="38576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1" name="Shape 40"/>
          <p:cNvSpPr/>
          <p:nvPr/>
        </p:nvSpPr>
        <p:spPr>
          <a:xfrm>
            <a:off x="6203175" y="2798564"/>
            <a:ext cx="21431" cy="38576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2" name="Text 41"/>
          <p:cNvSpPr/>
          <p:nvPr/>
        </p:nvSpPr>
        <p:spPr>
          <a:xfrm>
            <a:off x="6203175" y="2798564"/>
            <a:ext cx="2190759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Compilation Error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Test Failure</a:t>
            </a:r>
            <a:endParaRPr lang="en-US" sz="727" dirty="0"/>
          </a:p>
        </p:txBody>
      </p:sp>
      <p:sp>
        <p:nvSpPr>
          <p:cNvPr id="53" name="Text 42"/>
          <p:cNvSpPr/>
          <p:nvPr/>
        </p:nvSpPr>
        <p:spPr>
          <a:xfrm>
            <a:off x="6203175" y="3270052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36E72"/>
                </a:solidFill>
              </a:rPr>
              <a:t>Solution</a:t>
            </a:r>
            <a:endParaRPr lang="en-US" sz="584" dirty="0"/>
          </a:p>
        </p:txBody>
      </p:sp>
      <p:sp>
        <p:nvSpPr>
          <p:cNvPr id="54" name="Shape 43"/>
          <p:cNvSpPr/>
          <p:nvPr/>
        </p:nvSpPr>
        <p:spPr>
          <a:xfrm>
            <a:off x="6203175" y="3414713"/>
            <a:ext cx="2190759" cy="40362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5" name="Shape 44"/>
          <p:cNvSpPr/>
          <p:nvPr/>
        </p:nvSpPr>
        <p:spPr>
          <a:xfrm>
            <a:off x="6203175" y="3414713"/>
            <a:ext cx="21431" cy="40362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6" name="Text 45"/>
          <p:cNvSpPr/>
          <p:nvPr/>
        </p:nvSpPr>
        <p:spPr>
          <a:xfrm>
            <a:off x="6203175" y="3414713"/>
            <a:ext cx="2190759" cy="4036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로컬 테스트 수행,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D3436"/>
                </a:solidFill>
              </a:rPr>
              <a:t>의존성 충돌 해결</a:t>
            </a:r>
            <a:endParaRPr lang="en-US" sz="727" dirty="0"/>
          </a:p>
        </p:txBody>
      </p:sp>
      <p:sp>
        <p:nvSpPr>
          <p:cNvPr id="57" name="Shape 46"/>
          <p:cNvSpPr/>
          <p:nvPr/>
        </p:nvSpPr>
        <p:spPr>
          <a:xfrm>
            <a:off x="571500" y="4221956"/>
            <a:ext cx="8001000" cy="492919"/>
          </a:xfrm>
          <a:prstGeom prst="rect">
            <a:avLst/>
          </a:prstGeom>
          <a:solidFill>
            <a:srgbClr val="2D3436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396978"/>
            <a:ext cx="160734" cy="142875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1125141" y="4364831"/>
            <a:ext cx="11258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운영 안정화 가이드</a:t>
            </a:r>
            <a:endParaRPr lang="en-US" sz="987" dirty="0"/>
          </a:p>
        </p:txBody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6302" y="4411266"/>
            <a:ext cx="85725" cy="11430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4827752" y="4386263"/>
            <a:ext cx="100266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FE6E9"/>
                </a:solidFill>
              </a:rPr>
              <a:t>로그 관리 (Masking)</a:t>
            </a:r>
            <a:endParaRPr lang="en-US" sz="834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6166" y="4411266"/>
            <a:ext cx="142875" cy="114300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6344766" y="4386263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FE6E9"/>
                </a:solidFill>
              </a:rPr>
              <a:t>권한 정기 점검</a:t>
            </a:r>
            <a:endParaRPr lang="en-US" sz="834" dirty="0"/>
          </a:p>
        </p:txBody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20893" y="4411266"/>
            <a:ext cx="114300" cy="114300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7520918" y="4386263"/>
            <a:ext cx="76583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FE6E9"/>
                </a:solidFill>
              </a:rPr>
              <a:t>성공률 모니터링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42863" cy="292894"/>
          </a:xfrm>
          <a:prstGeom prst="roundRect">
            <a:avLst/>
          </a:prstGeom>
          <a:solidFill>
            <a:srgbClr val="A29BFE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8001000" cy="4357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3436"/>
                </a:solidFill>
              </a:rPr>
              <a:t>전환 성과 및 다음 단계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935831"/>
            <a:ext cx="8001000" cy="2500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636E72"/>
                </a:solidFill>
              </a:rPr>
              <a:t>CI/CD 전환 성과 요약 및 향후 고도화 로드맵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1471613"/>
            <a:ext cx="1866305" cy="159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71613"/>
            <a:ext cx="1866305" cy="42863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Shape 5"/>
          <p:cNvSpPr/>
          <p:nvPr/>
        </p:nvSpPr>
        <p:spPr>
          <a:xfrm>
            <a:off x="1326059" y="1650206"/>
            <a:ext cx="357188" cy="357188"/>
          </a:xfrm>
          <a:prstGeom prst="ellipse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27" y="1743075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8540" y="2114550"/>
            <a:ext cx="2922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50</a:t>
            </a:r>
            <a:pPr algn="ctr" indent="0" marL="0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%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1226883" y="2407444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관리 효율성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959300" y="2628900"/>
            <a:ext cx="109067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Jenkins 서버 관리 부담 감소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파이프라인 표준화</a:t>
            </a:r>
            <a:endParaRPr lang="en-US" sz="674" dirty="0"/>
          </a:p>
        </p:txBody>
      </p:sp>
      <p:sp>
        <p:nvSpPr>
          <p:cNvPr id="13" name="Shape 9"/>
          <p:cNvSpPr/>
          <p:nvPr/>
        </p:nvSpPr>
        <p:spPr>
          <a:xfrm>
            <a:off x="2616398" y="1471613"/>
            <a:ext cx="1866305" cy="159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2616398" y="1471613"/>
            <a:ext cx="1866305" cy="42863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Shape 11"/>
          <p:cNvSpPr/>
          <p:nvPr/>
        </p:nvSpPr>
        <p:spPr>
          <a:xfrm>
            <a:off x="3370957" y="1650206"/>
            <a:ext cx="357188" cy="357188"/>
          </a:xfrm>
          <a:prstGeom prst="ellipse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826" y="1743075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03439" y="2114550"/>
            <a:ext cx="2922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80</a:t>
            </a:r>
            <a:pPr algn="ctr" indent="0" marL="0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%</a:t>
            </a:r>
            <a:endParaRPr lang="en-US" sz="987" dirty="0"/>
          </a:p>
        </p:txBody>
      </p:sp>
      <p:sp>
        <p:nvSpPr>
          <p:cNvPr id="18" name="Text 13"/>
          <p:cNvSpPr/>
          <p:nvPr/>
        </p:nvSpPr>
        <p:spPr>
          <a:xfrm>
            <a:off x="3324355" y="24074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보안 강화</a:t>
            </a:r>
            <a:endParaRPr lang="en-US" sz="784" dirty="0"/>
          </a:p>
        </p:txBody>
      </p:sp>
      <p:sp>
        <p:nvSpPr>
          <p:cNvPr id="19" name="Text 14"/>
          <p:cNvSpPr/>
          <p:nvPr/>
        </p:nvSpPr>
        <p:spPr>
          <a:xfrm>
            <a:off x="3074408" y="2628900"/>
            <a:ext cx="9502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GHAS 및 Trivy 통합으로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취약점 조기 발견</a:t>
            </a:r>
            <a:endParaRPr lang="en-US" sz="674" dirty="0"/>
          </a:p>
        </p:txBody>
      </p:sp>
      <p:sp>
        <p:nvSpPr>
          <p:cNvPr id="20" name="Shape 15"/>
          <p:cNvSpPr/>
          <p:nvPr/>
        </p:nvSpPr>
        <p:spPr>
          <a:xfrm>
            <a:off x="4661297" y="1471613"/>
            <a:ext cx="1866305" cy="159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661297" y="1471613"/>
            <a:ext cx="1866305" cy="42863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Shape 17"/>
          <p:cNvSpPr/>
          <p:nvPr/>
        </p:nvSpPr>
        <p:spPr>
          <a:xfrm>
            <a:off x="5415855" y="1650206"/>
            <a:ext cx="357188" cy="357188"/>
          </a:xfrm>
          <a:prstGeom prst="ellipse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009" y="1743075"/>
            <a:ext cx="192881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8337" y="2114550"/>
            <a:ext cx="2922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30</a:t>
            </a:r>
            <a:pPr algn="ctr" indent="0" marL="0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636E72"/>
                </a:solidFill>
              </a:rPr>
              <a:t>%</a:t>
            </a:r>
            <a:endParaRPr lang="en-US" sz="987" dirty="0"/>
          </a:p>
        </p:txBody>
      </p:sp>
      <p:sp>
        <p:nvSpPr>
          <p:cNvPr id="25" name="Text 19"/>
          <p:cNvSpPr/>
          <p:nvPr/>
        </p:nvSpPr>
        <p:spPr>
          <a:xfrm>
            <a:off x="5369254" y="24074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배포 속도</a:t>
            </a:r>
            <a:endParaRPr lang="en-US" sz="784" dirty="0"/>
          </a:p>
        </p:txBody>
      </p:sp>
      <p:sp>
        <p:nvSpPr>
          <p:cNvPr id="26" name="Text 20"/>
          <p:cNvSpPr/>
          <p:nvPr/>
        </p:nvSpPr>
        <p:spPr>
          <a:xfrm>
            <a:off x="5073848" y="2628900"/>
            <a:ext cx="104117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CI 자동화 및 캐싱 최적화로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빌드 시간 단축</a:t>
            </a:r>
            <a:endParaRPr lang="en-US" sz="674" dirty="0"/>
          </a:p>
        </p:txBody>
      </p:sp>
      <p:sp>
        <p:nvSpPr>
          <p:cNvPr id="27" name="Shape 21"/>
          <p:cNvSpPr/>
          <p:nvPr/>
        </p:nvSpPr>
        <p:spPr>
          <a:xfrm>
            <a:off x="6706195" y="1471613"/>
            <a:ext cx="1866305" cy="159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6706195" y="1471613"/>
            <a:ext cx="1866305" cy="42863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9" name="Shape 23"/>
          <p:cNvSpPr/>
          <p:nvPr/>
        </p:nvSpPr>
        <p:spPr>
          <a:xfrm>
            <a:off x="7460754" y="1650206"/>
            <a:ext cx="357188" cy="357188"/>
          </a:xfrm>
          <a:prstGeom prst="ellipse">
            <a:avLst/>
          </a:prstGeom>
          <a:solidFill>
            <a:srgbClr val="6C5CE7">
              <a:alpha val="1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191" y="1743075"/>
            <a:ext cx="214313" cy="1714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35878" y="2114550"/>
            <a:ext cx="6069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2D3436"/>
                </a:solidFill>
              </a:rPr>
              <a:t>High</a:t>
            </a:r>
            <a:endParaRPr lang="en-US" sz="1808" dirty="0"/>
          </a:p>
        </p:txBody>
      </p:sp>
      <p:sp>
        <p:nvSpPr>
          <p:cNvPr id="32" name="Text 25"/>
          <p:cNvSpPr/>
          <p:nvPr/>
        </p:nvSpPr>
        <p:spPr>
          <a:xfrm>
            <a:off x="7414152" y="24074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C5CE7"/>
                </a:solidFill>
              </a:rPr>
              <a:t>협업 품질</a:t>
            </a:r>
            <a:endParaRPr lang="en-US" sz="784" dirty="0"/>
          </a:p>
        </p:txBody>
      </p:sp>
      <p:sp>
        <p:nvSpPr>
          <p:cNvPr id="33" name="Text 26"/>
          <p:cNvSpPr/>
          <p:nvPr/>
        </p:nvSpPr>
        <p:spPr>
          <a:xfrm>
            <a:off x="7161665" y="2628900"/>
            <a:ext cx="95536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PR 기반 리뷰 프로세스로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코드 품질 향상</a:t>
            </a:r>
            <a:endParaRPr lang="en-US" sz="674" dirty="0"/>
          </a:p>
        </p:txBody>
      </p:sp>
      <p:sp>
        <p:nvSpPr>
          <p:cNvPr id="34" name="Shape 27"/>
          <p:cNvSpPr/>
          <p:nvPr/>
        </p:nvSpPr>
        <p:spPr>
          <a:xfrm>
            <a:off x="571500" y="3074659"/>
            <a:ext cx="8001000" cy="1937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243430"/>
            <a:ext cx="142875" cy="1428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28688" y="3217534"/>
            <a:ext cx="11882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436"/>
                </a:solidFill>
              </a:rPr>
              <a:t>Future Roadmap</a:t>
            </a:r>
            <a:endParaRPr lang="en-US" sz="987" dirty="0"/>
          </a:p>
        </p:txBody>
      </p:sp>
      <p:sp>
        <p:nvSpPr>
          <p:cNvPr id="37" name="Shape 29"/>
          <p:cNvSpPr/>
          <p:nvPr/>
        </p:nvSpPr>
        <p:spPr>
          <a:xfrm>
            <a:off x="1378744" y="3555076"/>
            <a:ext cx="385763" cy="38576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6C5CE7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0188" y="3676520"/>
            <a:ext cx="142875" cy="14287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88709" y="4047995"/>
            <a:ext cx="76583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모니터링 고도화</a:t>
            </a:r>
            <a:endParaRPr lang="en-US" sz="784" dirty="0"/>
          </a:p>
        </p:txBody>
      </p:sp>
      <p:sp>
        <p:nvSpPr>
          <p:cNvPr id="40" name="Text 31"/>
          <p:cNvSpPr/>
          <p:nvPr/>
        </p:nvSpPr>
        <p:spPr>
          <a:xfrm>
            <a:off x="1208270" y="4248020"/>
            <a:ext cx="7267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Datadog 연동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CI/CD 메트릭 추적</a:t>
            </a:r>
            <a:endParaRPr lang="en-US" sz="674" dirty="0"/>
          </a:p>
        </p:txBody>
      </p:sp>
      <p:sp>
        <p:nvSpPr>
          <p:cNvPr id="41" name="Shape 32"/>
          <p:cNvSpPr/>
          <p:nvPr/>
        </p:nvSpPr>
        <p:spPr>
          <a:xfrm>
            <a:off x="3378994" y="3555076"/>
            <a:ext cx="385763" cy="38576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6C5CE7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2578" y="3676520"/>
            <a:ext cx="178594" cy="14287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294106" y="4047995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자동화 확대</a:t>
            </a:r>
            <a:endParaRPr lang="en-US" sz="784" dirty="0"/>
          </a:p>
        </p:txBody>
      </p:sp>
      <p:sp>
        <p:nvSpPr>
          <p:cNvPr id="44" name="Text 34"/>
          <p:cNvSpPr/>
          <p:nvPr/>
        </p:nvSpPr>
        <p:spPr>
          <a:xfrm>
            <a:off x="3248676" y="4248020"/>
            <a:ext cx="64637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환경별 자동 배포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카나리 배포 도입</a:t>
            </a:r>
            <a:endParaRPr lang="en-US" sz="674" dirty="0"/>
          </a:p>
        </p:txBody>
      </p:sp>
      <p:sp>
        <p:nvSpPr>
          <p:cNvPr id="45" name="Shape 35"/>
          <p:cNvSpPr/>
          <p:nvPr/>
        </p:nvSpPr>
        <p:spPr>
          <a:xfrm>
            <a:off x="5379244" y="3555076"/>
            <a:ext cx="385763" cy="38576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6C5CE7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9617" y="3676520"/>
            <a:ext cx="125016" cy="14287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226937" y="4047995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교육 및 문서화</a:t>
            </a:r>
            <a:endParaRPr lang="en-US" sz="784" dirty="0"/>
          </a:p>
        </p:txBody>
      </p:sp>
      <p:sp>
        <p:nvSpPr>
          <p:cNvPr id="48" name="Text 37"/>
          <p:cNvSpPr/>
          <p:nvPr/>
        </p:nvSpPr>
        <p:spPr>
          <a:xfrm>
            <a:off x="5195236" y="4248020"/>
            <a:ext cx="75374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온보딩 자료 정비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Best Practice 공유</a:t>
            </a:r>
            <a:endParaRPr lang="en-US" sz="674" dirty="0"/>
          </a:p>
        </p:txBody>
      </p:sp>
      <p:sp>
        <p:nvSpPr>
          <p:cNvPr id="49" name="Shape 38"/>
          <p:cNvSpPr/>
          <p:nvPr/>
        </p:nvSpPr>
        <p:spPr>
          <a:xfrm>
            <a:off x="7379494" y="3555076"/>
            <a:ext cx="385763" cy="38576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6C5CE7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3078" y="3676520"/>
            <a:ext cx="178594" cy="142875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294606" y="4047995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436"/>
                </a:solidFill>
              </a:rPr>
              <a:t>피드백 수렴</a:t>
            </a:r>
            <a:endParaRPr lang="en-US" sz="784" dirty="0"/>
          </a:p>
        </p:txBody>
      </p:sp>
      <p:sp>
        <p:nvSpPr>
          <p:cNvPr id="52" name="Text 40"/>
          <p:cNvSpPr/>
          <p:nvPr/>
        </p:nvSpPr>
        <p:spPr>
          <a:xfrm>
            <a:off x="7163730" y="4248020"/>
            <a:ext cx="817262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개발팀 의견 반영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36E72"/>
                </a:solidFill>
              </a:rPr>
              <a:t>지속적 프로세스 개선</a:t>
            </a:r>
            <a:endParaRPr lang="en-US" sz="674" dirty="0"/>
          </a:p>
        </p:txBody>
      </p:sp>
      <p:sp>
        <p:nvSpPr>
          <p:cNvPr id="53" name="Shape 41"/>
          <p:cNvSpPr/>
          <p:nvPr/>
        </p:nvSpPr>
        <p:spPr>
          <a:xfrm>
            <a:off x="714375" y="4508041"/>
            <a:ext cx="7715250" cy="360759"/>
          </a:xfrm>
          <a:prstGeom prst="rect">
            <a:avLst/>
          </a:prstGeom>
          <a:solidFill>
            <a:srgbClr val="6C5CE7">
              <a:alpha val="5000"/>
            </a:srgbClr>
          </a:solidFill>
          <a:ln/>
        </p:spPr>
      </p:sp>
      <p:sp>
        <p:nvSpPr>
          <p:cNvPr id="54" name="Text 42"/>
          <p:cNvSpPr/>
          <p:nvPr/>
        </p:nvSpPr>
        <p:spPr>
          <a:xfrm>
            <a:off x="714375" y="4508041"/>
            <a:ext cx="7715250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C5CE7"/>
                </a:solidFill>
              </a:rPr>
              <a:t>"CI/CD 전환은 끝이 아닌 시작, 지속적인 개선으로 DevOps 성숙도를 높여갑니다."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2026-02-20T07:32:08Z</dcterms:created>
  <dcterms:modified xsi:type="dcterms:W3CDTF">2026-02-20T07:32:08Z</dcterms:modified>
</cp:coreProperties>
</file>